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embeddedFontLst>
    <p:embeddedFont>
      <p:font typeface="Inter" panose="02000503000000020004" pitchFamily="34" charset="0"/>
      <p:regular r:id="rId23"/>
      <p:bold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font" Target="fonts/font1.fntdata"/><Relationship Id="rId24"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5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0E7C86"/>
                </a:solidFill>
                <a:latin typeface="Inter" pitchFamily="34" charset="0"/>
                <a:ea typeface="Inter" pitchFamily="34" charset="-122"/>
                <a:cs typeface="Inter"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580"/>
            <a:ext cx="10566400" cy="4480620"/>
          </a:xfrm>
          <a:prstGeom prst="rect">
            <a:avLst/>
          </a:prstGeom>
          <a:noFill/>
          <a:ln/>
        </p:spPr>
        <p:txBody>
          <a:bodyPr wrap="square" lIns="0" tIns="0" rIns="0" bIns="0" rtlCol="0" anchor="t"/>
          <a:lstStyle>
            <a:lvl1pPr algn="l" indent="0" marL="0">
              <a:lnSpc>
                <a:spcPct val="140000"/>
              </a:lnSpc>
              <a:buNone/>
              <a:defRPr lang="en-US" sz="1600" dirty="0">
                <a:solidFill>
                  <a:srgbClr val="0E7C86"/>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5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0E7C86"/>
                </a:solidFill>
                <a:latin typeface="Inter" pitchFamily="34" charset="0"/>
                <a:ea typeface="Inter" pitchFamily="34" charset="-122"/>
                <a:cs typeface="Inter"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580"/>
            <a:ext cx="10566400" cy="4480620"/>
          </a:xfrm>
          <a:prstGeom prst="rect">
            <a:avLst/>
          </a:prstGeom>
          <a:noFill/>
          <a:ln/>
        </p:spPr>
        <p:txBody>
          <a:bodyPr wrap="square" lIns="0" tIns="0" rIns="0" bIns="0" rtlCol="0" anchor="t"/>
          <a:lstStyle>
            <a:lvl1pPr algn="l" indent="0" marL="0">
              <a:lnSpc>
                <a:spcPct val="140000"/>
              </a:lnSpc>
              <a:buNone/>
              <a:defRPr lang="en-US" sz="1600" dirty="0">
                <a:solidFill>
                  <a:srgbClr val="0E7C86"/>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EEAD4"/>
                </a:solidFill>
                <a:latin typeface="Inter" pitchFamily="34" charset="0"/>
                <a:ea typeface="Inter" pitchFamily="34" charset="-122"/>
                <a:cs typeface="Inter" pitchFamily="34" charset="-120"/>
              </a:rPr>
              <a:t>LORDS INSTITUTE OF ENGINEERING AND TECHNOLOGY (AUTONOMOUS) · DEPARTMENT OF CSE (AI&amp;ML)</a:t>
            </a:r>
            <a:endParaRPr lang="en-US" sz="1400" dirty="0"/>
          </a:p>
        </p:txBody>
      </p:sp>
      <p:sp>
        <p:nvSpPr>
          <p:cNvPr id="3" name="Text 1"/>
          <p:cNvSpPr/>
          <p:nvPr>
            <p:ph type="title"/>
          </p:nvPr>
        </p:nvSpPr>
        <p:spPr>
          <a:xfrm>
            <a:off x="812800" y="2115840"/>
            <a:ext cx="10883392" cy="1087041"/>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E8EEF5"/>
                </a:solidFill>
                <a:latin typeface="Inter" pitchFamily="34" charset="0"/>
                <a:ea typeface="Inter" pitchFamily="34" charset="-122"/>
                <a:cs typeface="Inter" pitchFamily="34" charset="-120"/>
              </a:rPr>
              <a:t>AI-Based Exam Cheating Detection System Using Computer Vision</a:t>
            </a:r>
            <a:endParaRPr lang="en-US" sz="3800" dirty="0"/>
          </a:p>
        </p:txBody>
      </p:sp>
      <p:sp>
        <p:nvSpPr>
          <p:cNvPr id="4" name="Text 2"/>
          <p:cNvSpPr/>
          <p:nvPr/>
        </p:nvSpPr>
        <p:spPr>
          <a:xfrm>
            <a:off x="812800" y="3329880"/>
            <a:ext cx="1088339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9FB0C3"/>
                </a:solidFill>
                <a:latin typeface="Inter" pitchFamily="34" charset="0"/>
                <a:ea typeface="Inter" pitchFamily="34" charset="-122"/>
                <a:cs typeface="Inter" pitchFamily="34" charset="-120"/>
              </a:rPr>
              <a:t>Major Project Phase-1 (Review-2) · Team JAAI · CSE-AIML 4A · 2026–27</a:t>
            </a:r>
            <a:endParaRPr lang="en-US" sz="1700" dirty="0"/>
          </a:p>
        </p:txBody>
      </p:sp>
      <p:sp>
        <p:nvSpPr>
          <p:cNvPr id="5" name="Text 3"/>
          <p:cNvSpPr/>
          <p:nvPr/>
        </p:nvSpPr>
        <p:spPr>
          <a:xfrm>
            <a:off x="812800" y="46863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5EEAD4"/>
                </a:solidFill>
                <a:latin typeface="Inter" pitchFamily="34" charset="0"/>
                <a:ea typeface="Inter" pitchFamily="34" charset="-122"/>
                <a:cs typeface="Inter" pitchFamily="34" charset="-120"/>
              </a:rPr>
              <a:t>Team Members</a:t>
            </a:r>
            <a:endParaRPr lang="en-US" sz="1500" dirty="0"/>
          </a:p>
        </p:txBody>
      </p:sp>
      <p:sp>
        <p:nvSpPr>
          <p:cNvPr id="6" name="Text 4"/>
          <p:cNvSpPr/>
          <p:nvPr/>
        </p:nvSpPr>
        <p:spPr>
          <a:xfrm>
            <a:off x="812800" y="5080000"/>
            <a:ext cx="10883392"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EF5"/>
                </a:solidFill>
                <a:latin typeface="Inter" pitchFamily="34" charset="0"/>
                <a:ea typeface="Inter" pitchFamily="34" charset="-122"/>
                <a:cs typeface="Inter" pitchFamily="34" charset="-120"/>
              </a:rPr>
              <a:t>Awais (160923748038) · Jameel Ali (160923748039)</a:t>
            </a:r>
            <a:endParaRPr lang="en-US" sz="1500" dirty="0"/>
          </a:p>
          <a:p>
            <a:pPr algn="l" indent="0" marL="0">
              <a:lnSpc>
                <a:spcPts val="2250"/>
              </a:lnSpc>
              <a:buNone/>
            </a:pPr>
            <a:r>
              <a:rPr lang="en-US" sz="1500" dirty="0">
                <a:solidFill>
                  <a:srgbClr val="E8EEF5"/>
                </a:solidFill>
                <a:latin typeface="Inter" pitchFamily="34" charset="0"/>
                <a:ea typeface="Inter" pitchFamily="34" charset="-122"/>
                <a:cs typeface="Inter" pitchFamily="34" charset="-120"/>
              </a:rPr>
              <a:t>Arif (160923748055) · Ibrahim (160923748059)</a:t>
            </a:r>
            <a:endParaRPr lang="en-US" sz="1500" dirty="0"/>
          </a:p>
        </p:txBody>
      </p:sp>
      <p:sp>
        <p:nvSpPr>
          <p:cNvPr id="7" name="Text 5"/>
          <p:cNvSpPr/>
          <p:nvPr/>
        </p:nvSpPr>
        <p:spPr>
          <a:xfrm>
            <a:off x="812800" y="57785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5EEAD4"/>
                </a:solidFill>
                <a:latin typeface="Inter" pitchFamily="34" charset="0"/>
                <a:ea typeface="Inter" pitchFamily="34" charset="-122"/>
                <a:cs typeface="Inter" pitchFamily="34" charset="-120"/>
              </a:rPr>
              <a:t>Guide: Mr. Dr. Altaf .C, [AHoD]</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7C86"/>
                </a:solidFill>
                <a:latin typeface="Inter" pitchFamily="34" charset="0"/>
                <a:ea typeface="Inter" pitchFamily="34" charset="-122"/>
                <a:cs typeface="Inter" pitchFamily="34" charset="-120"/>
              </a:rPr>
              <a:t>Table of Contents</a:t>
            </a:r>
            <a:endParaRPr lang="en-US" sz="3200" dirty="0"/>
          </a:p>
        </p:txBody>
      </p:sp>
      <p:sp>
        <p:nvSpPr>
          <p:cNvPr id="3" name="Shape 1"/>
          <p:cNvSpPr/>
          <p:nvPr/>
        </p:nvSpPr>
        <p:spPr>
          <a:xfrm>
            <a:off x="812800" y="1564580"/>
            <a:ext cx="5207000" cy="573980"/>
          </a:xfrm>
          <a:prstGeom prst="roundRect">
            <a:avLst>
              <a:gd name="adj" fmla="val 13276"/>
            </a:avLst>
          </a:prstGeom>
          <a:solidFill>
            <a:srgbClr val="FFFFFF"/>
          </a:solidFill>
          <a:ln/>
        </p:spPr>
      </p:sp>
      <p:sp>
        <p:nvSpPr>
          <p:cNvPr id="4" name="Text 2"/>
          <p:cNvSpPr/>
          <p:nvPr/>
        </p:nvSpPr>
        <p:spPr>
          <a:xfrm>
            <a:off x="990600" y="1691580"/>
            <a:ext cx="30351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7C86"/>
                </a:solidFill>
                <a:latin typeface="Inter" pitchFamily="34" charset="0"/>
                <a:ea typeface="Inter" pitchFamily="34" charset="-122"/>
                <a:cs typeface="Inter" pitchFamily="34" charset="-120"/>
              </a:rPr>
              <a:t>01</a:t>
            </a:r>
            <a:endParaRPr lang="en-US" sz="1800" dirty="0"/>
          </a:p>
        </p:txBody>
      </p:sp>
      <p:sp>
        <p:nvSpPr>
          <p:cNvPr id="5" name="Text 3"/>
          <p:cNvSpPr/>
          <p:nvPr/>
        </p:nvSpPr>
        <p:spPr>
          <a:xfrm>
            <a:off x="1395710" y="1700411"/>
            <a:ext cx="103477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4202E"/>
                </a:solidFill>
                <a:latin typeface="Inter" pitchFamily="34" charset="0"/>
                <a:ea typeface="Inter" pitchFamily="34" charset="-122"/>
                <a:cs typeface="Inter" pitchFamily="34" charset="-120"/>
              </a:rPr>
              <a:t>Abstract</a:t>
            </a:r>
            <a:endParaRPr lang="en-US" sz="1700" dirty="0"/>
          </a:p>
        </p:txBody>
      </p:sp>
      <p:sp>
        <p:nvSpPr>
          <p:cNvPr id="6" name="Shape 4"/>
          <p:cNvSpPr/>
          <p:nvPr/>
        </p:nvSpPr>
        <p:spPr>
          <a:xfrm>
            <a:off x="6172200" y="1564580"/>
            <a:ext cx="5207000" cy="573980"/>
          </a:xfrm>
          <a:prstGeom prst="roundRect">
            <a:avLst>
              <a:gd name="adj" fmla="val 13276"/>
            </a:avLst>
          </a:prstGeom>
          <a:solidFill>
            <a:srgbClr val="FFFFFF"/>
          </a:solidFill>
          <a:ln/>
        </p:spPr>
      </p:sp>
      <p:sp>
        <p:nvSpPr>
          <p:cNvPr id="7" name="Text 5"/>
          <p:cNvSpPr/>
          <p:nvPr/>
        </p:nvSpPr>
        <p:spPr>
          <a:xfrm>
            <a:off x="6350000" y="1691580"/>
            <a:ext cx="357783"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7C86"/>
                </a:solidFill>
                <a:latin typeface="Inter" pitchFamily="34" charset="0"/>
                <a:ea typeface="Inter" pitchFamily="34" charset="-122"/>
                <a:cs typeface="Inter" pitchFamily="34" charset="-120"/>
              </a:rPr>
              <a:t>02</a:t>
            </a:r>
            <a:endParaRPr lang="en-US" sz="1800" dirty="0"/>
          </a:p>
        </p:txBody>
      </p:sp>
      <p:sp>
        <p:nvSpPr>
          <p:cNvPr id="8" name="Text 6"/>
          <p:cNvSpPr/>
          <p:nvPr/>
        </p:nvSpPr>
        <p:spPr>
          <a:xfrm>
            <a:off x="6800552" y="1700411"/>
            <a:ext cx="1471851"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4202E"/>
                </a:solidFill>
                <a:latin typeface="Inter" pitchFamily="34" charset="0"/>
                <a:ea typeface="Inter" pitchFamily="34" charset="-122"/>
                <a:cs typeface="Inter" pitchFamily="34" charset="-120"/>
              </a:rPr>
              <a:t>Introduction</a:t>
            </a:r>
            <a:endParaRPr lang="en-US" sz="1700" dirty="0"/>
          </a:p>
        </p:txBody>
      </p:sp>
      <p:sp>
        <p:nvSpPr>
          <p:cNvPr id="9" name="Shape 7"/>
          <p:cNvSpPr/>
          <p:nvPr/>
        </p:nvSpPr>
        <p:spPr>
          <a:xfrm>
            <a:off x="812800" y="2290961"/>
            <a:ext cx="5207000" cy="573980"/>
          </a:xfrm>
          <a:prstGeom prst="roundRect">
            <a:avLst>
              <a:gd name="adj" fmla="val 13276"/>
            </a:avLst>
          </a:prstGeom>
          <a:solidFill>
            <a:srgbClr val="FFFFFF"/>
          </a:solidFill>
          <a:ln/>
        </p:spPr>
      </p:sp>
      <p:sp>
        <p:nvSpPr>
          <p:cNvPr id="10" name="Text 8"/>
          <p:cNvSpPr/>
          <p:nvPr/>
        </p:nvSpPr>
        <p:spPr>
          <a:xfrm>
            <a:off x="990600" y="2417961"/>
            <a:ext cx="362069"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7C86"/>
                </a:solidFill>
                <a:latin typeface="Inter" pitchFamily="34" charset="0"/>
                <a:ea typeface="Inter" pitchFamily="34" charset="-122"/>
                <a:cs typeface="Inter" pitchFamily="34" charset="-120"/>
              </a:rPr>
              <a:t>03</a:t>
            </a:r>
            <a:endParaRPr lang="en-US" sz="1800" dirty="0"/>
          </a:p>
        </p:txBody>
      </p:sp>
      <p:sp>
        <p:nvSpPr>
          <p:cNvPr id="11" name="Text 9"/>
          <p:cNvSpPr/>
          <p:nvPr/>
        </p:nvSpPr>
        <p:spPr>
          <a:xfrm>
            <a:off x="1444724" y="2426791"/>
            <a:ext cx="1158121"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4202E"/>
                </a:solidFill>
                <a:latin typeface="Inter" pitchFamily="34" charset="0"/>
                <a:ea typeface="Inter" pitchFamily="34" charset="-122"/>
                <a:cs typeface="Inter" pitchFamily="34" charset="-120"/>
              </a:rPr>
              <a:t>Overview</a:t>
            </a:r>
            <a:endParaRPr lang="en-US" sz="1700" dirty="0"/>
          </a:p>
        </p:txBody>
      </p:sp>
      <p:sp>
        <p:nvSpPr>
          <p:cNvPr id="12" name="Shape 10"/>
          <p:cNvSpPr/>
          <p:nvPr/>
        </p:nvSpPr>
        <p:spPr>
          <a:xfrm>
            <a:off x="6172200" y="2290961"/>
            <a:ext cx="5207000" cy="573980"/>
          </a:xfrm>
          <a:prstGeom prst="roundRect">
            <a:avLst>
              <a:gd name="adj" fmla="val 13276"/>
            </a:avLst>
          </a:prstGeom>
          <a:solidFill>
            <a:srgbClr val="FFFFFF"/>
          </a:solidFill>
          <a:ln/>
        </p:spPr>
      </p:sp>
      <p:sp>
        <p:nvSpPr>
          <p:cNvPr id="13" name="Text 11"/>
          <p:cNvSpPr/>
          <p:nvPr/>
        </p:nvSpPr>
        <p:spPr>
          <a:xfrm>
            <a:off x="6350000" y="2417961"/>
            <a:ext cx="370523"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7C86"/>
                </a:solidFill>
                <a:latin typeface="Inter" pitchFamily="34" charset="0"/>
                <a:ea typeface="Inter" pitchFamily="34" charset="-122"/>
                <a:cs typeface="Inter" pitchFamily="34" charset="-120"/>
              </a:rPr>
              <a:t>04</a:t>
            </a:r>
            <a:endParaRPr lang="en-US" sz="1800" dirty="0"/>
          </a:p>
        </p:txBody>
      </p:sp>
      <p:sp>
        <p:nvSpPr>
          <p:cNvPr id="14" name="Text 12"/>
          <p:cNvSpPr/>
          <p:nvPr/>
        </p:nvSpPr>
        <p:spPr>
          <a:xfrm>
            <a:off x="6811169" y="2426791"/>
            <a:ext cx="2093833"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4202E"/>
                </a:solidFill>
                <a:latin typeface="Inter" pitchFamily="34" charset="0"/>
                <a:ea typeface="Inter" pitchFamily="34" charset="-122"/>
                <a:cs typeface="Inter" pitchFamily="34" charset="-120"/>
              </a:rPr>
              <a:t>Literature Survey</a:t>
            </a:r>
            <a:endParaRPr lang="en-US" sz="1700" dirty="0"/>
          </a:p>
        </p:txBody>
      </p:sp>
      <p:sp>
        <p:nvSpPr>
          <p:cNvPr id="15" name="Shape 13"/>
          <p:cNvSpPr/>
          <p:nvPr/>
        </p:nvSpPr>
        <p:spPr>
          <a:xfrm>
            <a:off x="812800" y="3017341"/>
            <a:ext cx="5207000" cy="573980"/>
          </a:xfrm>
          <a:prstGeom prst="roundRect">
            <a:avLst>
              <a:gd name="adj" fmla="val 13276"/>
            </a:avLst>
          </a:prstGeom>
          <a:solidFill>
            <a:srgbClr val="FFFFFF"/>
          </a:solidFill>
          <a:ln/>
        </p:spPr>
      </p:sp>
      <p:sp>
        <p:nvSpPr>
          <p:cNvPr id="16" name="Text 14"/>
          <p:cNvSpPr/>
          <p:nvPr/>
        </p:nvSpPr>
        <p:spPr>
          <a:xfrm>
            <a:off x="990600" y="3144341"/>
            <a:ext cx="35564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7C86"/>
                </a:solidFill>
                <a:latin typeface="Inter" pitchFamily="34" charset="0"/>
                <a:ea typeface="Inter" pitchFamily="34" charset="-122"/>
                <a:cs typeface="Inter" pitchFamily="34" charset="-120"/>
              </a:rPr>
              <a:t>05</a:t>
            </a:r>
            <a:endParaRPr lang="en-US" sz="1800" dirty="0"/>
          </a:p>
        </p:txBody>
      </p:sp>
      <p:sp>
        <p:nvSpPr>
          <p:cNvPr id="17" name="Text 15"/>
          <p:cNvSpPr/>
          <p:nvPr/>
        </p:nvSpPr>
        <p:spPr>
          <a:xfrm>
            <a:off x="1439366" y="3153172"/>
            <a:ext cx="4417933"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4202E"/>
                </a:solidFill>
                <a:latin typeface="Inter" pitchFamily="34" charset="0"/>
                <a:ea typeface="Inter" pitchFamily="34" charset="-122"/>
                <a:cs typeface="Inter" pitchFamily="34" charset="-120"/>
              </a:rPr>
              <a:t>Existing System &amp; its Disadvantages</a:t>
            </a:r>
            <a:endParaRPr lang="en-US" sz="1700" dirty="0"/>
          </a:p>
        </p:txBody>
      </p:sp>
      <p:sp>
        <p:nvSpPr>
          <p:cNvPr id="18" name="Shape 16"/>
          <p:cNvSpPr/>
          <p:nvPr/>
        </p:nvSpPr>
        <p:spPr>
          <a:xfrm>
            <a:off x="6172200" y="3017341"/>
            <a:ext cx="5207000" cy="573980"/>
          </a:xfrm>
          <a:prstGeom prst="roundRect">
            <a:avLst>
              <a:gd name="adj" fmla="val 13276"/>
            </a:avLst>
          </a:prstGeom>
          <a:solidFill>
            <a:srgbClr val="FFFFFF"/>
          </a:solidFill>
          <a:ln/>
        </p:spPr>
      </p:sp>
      <p:sp>
        <p:nvSpPr>
          <p:cNvPr id="19" name="Text 17"/>
          <p:cNvSpPr/>
          <p:nvPr/>
        </p:nvSpPr>
        <p:spPr>
          <a:xfrm>
            <a:off x="6350000" y="3144341"/>
            <a:ext cx="363141"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7C86"/>
                </a:solidFill>
                <a:latin typeface="Inter" pitchFamily="34" charset="0"/>
                <a:ea typeface="Inter" pitchFamily="34" charset="-122"/>
                <a:cs typeface="Inter" pitchFamily="34" charset="-120"/>
              </a:rPr>
              <a:t>06</a:t>
            </a:r>
            <a:endParaRPr lang="en-US" sz="1800" dirty="0"/>
          </a:p>
        </p:txBody>
      </p:sp>
      <p:sp>
        <p:nvSpPr>
          <p:cNvPr id="20" name="Text 18"/>
          <p:cNvSpPr/>
          <p:nvPr/>
        </p:nvSpPr>
        <p:spPr>
          <a:xfrm>
            <a:off x="6805017" y="3153172"/>
            <a:ext cx="428315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4202E"/>
                </a:solidFill>
                <a:latin typeface="Inter" pitchFamily="34" charset="0"/>
                <a:ea typeface="Inter" pitchFamily="34" charset="-122"/>
                <a:cs typeface="Inter" pitchFamily="34" charset="-120"/>
              </a:rPr>
              <a:t>Proposed System &amp; its Advantages</a:t>
            </a:r>
            <a:endParaRPr lang="en-US" sz="1700" dirty="0"/>
          </a:p>
        </p:txBody>
      </p:sp>
      <p:sp>
        <p:nvSpPr>
          <p:cNvPr id="21" name="Shape 19"/>
          <p:cNvSpPr/>
          <p:nvPr/>
        </p:nvSpPr>
        <p:spPr>
          <a:xfrm>
            <a:off x="812800" y="3743722"/>
            <a:ext cx="5207000" cy="573980"/>
          </a:xfrm>
          <a:prstGeom prst="roundRect">
            <a:avLst>
              <a:gd name="adj" fmla="val 13276"/>
            </a:avLst>
          </a:prstGeom>
          <a:solidFill>
            <a:srgbClr val="FFFFFF"/>
          </a:solidFill>
          <a:ln/>
        </p:spPr>
      </p:sp>
      <p:sp>
        <p:nvSpPr>
          <p:cNvPr id="22" name="Text 20"/>
          <p:cNvSpPr/>
          <p:nvPr/>
        </p:nvSpPr>
        <p:spPr>
          <a:xfrm>
            <a:off x="990600" y="3870722"/>
            <a:ext cx="339209"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7C86"/>
                </a:solidFill>
                <a:latin typeface="Inter" pitchFamily="34" charset="0"/>
                <a:ea typeface="Inter" pitchFamily="34" charset="-122"/>
                <a:cs typeface="Inter" pitchFamily="34" charset="-120"/>
              </a:rPr>
              <a:t>07</a:t>
            </a:r>
            <a:endParaRPr lang="en-US" sz="1800" dirty="0"/>
          </a:p>
        </p:txBody>
      </p:sp>
      <p:sp>
        <p:nvSpPr>
          <p:cNvPr id="23" name="Text 21"/>
          <p:cNvSpPr/>
          <p:nvPr/>
        </p:nvSpPr>
        <p:spPr>
          <a:xfrm>
            <a:off x="1425674" y="3879552"/>
            <a:ext cx="2481143"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4202E"/>
                </a:solidFill>
                <a:latin typeface="Inter" pitchFamily="34" charset="0"/>
                <a:ea typeface="Inter" pitchFamily="34" charset="-122"/>
                <a:cs typeface="Inter" pitchFamily="34" charset="-120"/>
              </a:rPr>
              <a:t>System Architecture</a:t>
            </a:r>
            <a:endParaRPr lang="en-US" sz="1700" dirty="0"/>
          </a:p>
        </p:txBody>
      </p:sp>
      <p:sp>
        <p:nvSpPr>
          <p:cNvPr id="24" name="Shape 22"/>
          <p:cNvSpPr/>
          <p:nvPr/>
        </p:nvSpPr>
        <p:spPr>
          <a:xfrm>
            <a:off x="6172200" y="3743722"/>
            <a:ext cx="5207000" cy="573980"/>
          </a:xfrm>
          <a:prstGeom prst="roundRect">
            <a:avLst>
              <a:gd name="adj" fmla="val 13276"/>
            </a:avLst>
          </a:prstGeom>
          <a:solidFill>
            <a:srgbClr val="FFFFFF"/>
          </a:solidFill>
          <a:ln/>
        </p:spPr>
      </p:sp>
      <p:sp>
        <p:nvSpPr>
          <p:cNvPr id="25" name="Text 23"/>
          <p:cNvSpPr/>
          <p:nvPr/>
        </p:nvSpPr>
        <p:spPr>
          <a:xfrm>
            <a:off x="6350000" y="3870722"/>
            <a:ext cx="363617"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7C86"/>
                </a:solidFill>
                <a:latin typeface="Inter" pitchFamily="34" charset="0"/>
                <a:ea typeface="Inter" pitchFamily="34" charset="-122"/>
                <a:cs typeface="Inter" pitchFamily="34" charset="-120"/>
              </a:rPr>
              <a:t>08</a:t>
            </a:r>
            <a:endParaRPr lang="en-US" sz="1800" dirty="0"/>
          </a:p>
        </p:txBody>
      </p:sp>
      <p:sp>
        <p:nvSpPr>
          <p:cNvPr id="26" name="Text 24"/>
          <p:cNvSpPr/>
          <p:nvPr/>
        </p:nvSpPr>
        <p:spPr>
          <a:xfrm>
            <a:off x="6805414" y="3879552"/>
            <a:ext cx="1051798"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4202E"/>
                </a:solidFill>
                <a:latin typeface="Inter" pitchFamily="34" charset="0"/>
                <a:ea typeface="Inter" pitchFamily="34" charset="-122"/>
                <a:cs typeface="Inter" pitchFamily="34" charset="-120"/>
              </a:rPr>
              <a:t>Modules</a:t>
            </a:r>
            <a:endParaRPr lang="en-US" sz="1700" dirty="0"/>
          </a:p>
        </p:txBody>
      </p:sp>
      <p:sp>
        <p:nvSpPr>
          <p:cNvPr id="27" name="Shape 25"/>
          <p:cNvSpPr/>
          <p:nvPr/>
        </p:nvSpPr>
        <p:spPr>
          <a:xfrm>
            <a:off x="812800" y="4470102"/>
            <a:ext cx="5207000" cy="573980"/>
          </a:xfrm>
          <a:prstGeom prst="roundRect">
            <a:avLst>
              <a:gd name="adj" fmla="val 13276"/>
            </a:avLst>
          </a:prstGeom>
          <a:solidFill>
            <a:srgbClr val="FFFFFF"/>
          </a:solidFill>
          <a:ln/>
        </p:spPr>
      </p:sp>
      <p:sp>
        <p:nvSpPr>
          <p:cNvPr id="28" name="Text 26"/>
          <p:cNvSpPr/>
          <p:nvPr/>
        </p:nvSpPr>
        <p:spPr>
          <a:xfrm>
            <a:off x="990600" y="4597102"/>
            <a:ext cx="363141"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7C86"/>
                </a:solidFill>
                <a:latin typeface="Inter" pitchFamily="34" charset="0"/>
                <a:ea typeface="Inter" pitchFamily="34" charset="-122"/>
                <a:cs typeface="Inter" pitchFamily="34" charset="-120"/>
              </a:rPr>
              <a:t>09</a:t>
            </a:r>
            <a:endParaRPr lang="en-US" sz="1800" dirty="0"/>
          </a:p>
        </p:txBody>
      </p:sp>
      <p:sp>
        <p:nvSpPr>
          <p:cNvPr id="29" name="Text 27"/>
          <p:cNvSpPr/>
          <p:nvPr/>
        </p:nvSpPr>
        <p:spPr>
          <a:xfrm>
            <a:off x="1445617" y="4605933"/>
            <a:ext cx="132028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4202E"/>
                </a:solidFill>
                <a:latin typeface="Inter" pitchFamily="34" charset="0"/>
                <a:ea typeface="Inter" pitchFamily="34" charset="-122"/>
                <a:cs typeface="Inter" pitchFamily="34" charset="-120"/>
              </a:rPr>
              <a:t>Algorithms</a:t>
            </a:r>
            <a:endParaRPr lang="en-US" sz="1700" dirty="0"/>
          </a:p>
        </p:txBody>
      </p:sp>
      <p:sp>
        <p:nvSpPr>
          <p:cNvPr id="30" name="Text 28"/>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6"/>
                </a:solidFill>
                <a:latin typeface="Inter" pitchFamily="34" charset="0"/>
                <a:ea typeface="Inter" pitchFamily="34" charset="-122"/>
                <a:cs typeface="Inter" pitchFamily="34" charset="-120"/>
              </a:rPr>
              <a:t>Smart Surveillance System · Major Project Phase-1 · Review-2</a:t>
            </a:r>
            <a:endParaRPr lang="en-US" sz="1200" dirty="0"/>
          </a:p>
        </p:txBody>
      </p:sp>
      <p:sp>
        <p:nvSpPr>
          <p:cNvPr id="31" name="Text 29"/>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6"/>
                </a:solidFill>
                <a:latin typeface="Inter" pitchFamily="34" charset="0"/>
                <a:ea typeface="Inter" pitchFamily="34" charset="-122"/>
                <a:cs typeface="Inter"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7C86"/>
                </a:solidFill>
                <a:latin typeface="Inter" pitchFamily="34" charset="0"/>
                <a:ea typeface="Inter" pitchFamily="34" charset="-122"/>
                <a:cs typeface="Inter" pitchFamily="34" charset="-120"/>
              </a:rPr>
              <a:t>Abstract</a:t>
            </a:r>
            <a:endParaRPr lang="en-US" sz="3200" dirty="0"/>
          </a:p>
        </p:txBody>
      </p:sp>
      <p:sp>
        <p:nvSpPr>
          <p:cNvPr id="3" name="Text 1"/>
          <p:cNvSpPr/>
          <p:nvPr/>
        </p:nvSpPr>
        <p:spPr>
          <a:xfrm>
            <a:off x="812800" y="1564580"/>
            <a:ext cx="10883392" cy="1320800"/>
          </a:xfrm>
          <a:prstGeom prst="rect">
            <a:avLst/>
          </a:prstGeom>
          <a:noFill/>
          <a:ln/>
        </p:spPr>
        <p:txBody>
          <a:bodyPr wrap="square" lIns="0" tIns="0" rIns="0" bIns="0" rtlCol="0" anchor="t">
            <a:normAutofit/>
          </a:bodyPr>
          <a:lstStyle/>
          <a:p>
            <a:pPr algn="l" indent="0" marL="0">
              <a:lnSpc>
                <a:spcPts val="2550"/>
              </a:lnSpc>
              <a:buNone/>
            </a:pPr>
            <a:r>
              <a:rPr lang="en-US" sz="1700" dirty="0">
                <a:solidFill>
                  <a:srgbClr val="14202E"/>
                </a:solidFill>
                <a:latin typeface="Inter" pitchFamily="34" charset="0"/>
                <a:ea typeface="Inter" pitchFamily="34" charset="-122"/>
                <a:cs typeface="Inter" pitchFamily="34" charset="-120"/>
              </a:rPr>
              <a:t>The proposed system is an AI-based computer vision application that assists in monitoring examinations through CCTV or webcam video. It analyses student activity frame by frame and identifies a focused set of predefined suspicious behaviours: mobile phone usage, talking, repeated looking toward another student, and unusual head movement.</a:t>
            </a:r>
            <a:endParaRPr lang="en-US" sz="1700" dirty="0"/>
          </a:p>
        </p:txBody>
      </p:sp>
      <p:sp>
        <p:nvSpPr>
          <p:cNvPr id="4" name="Text 2"/>
          <p:cNvSpPr/>
          <p:nvPr/>
        </p:nvSpPr>
        <p:spPr>
          <a:xfrm>
            <a:off x="812800" y="3164780"/>
            <a:ext cx="10883392" cy="996950"/>
          </a:xfrm>
          <a:prstGeom prst="rect">
            <a:avLst/>
          </a:prstGeom>
          <a:noFill/>
          <a:ln/>
        </p:spPr>
        <p:txBody>
          <a:bodyPr wrap="square" lIns="0" tIns="0" rIns="0" bIns="0" rtlCol="0" anchor="t">
            <a:normAutofit/>
          </a:bodyPr>
          <a:lstStyle/>
          <a:p>
            <a:pPr algn="l" indent="0" marL="0">
              <a:lnSpc>
                <a:spcPts val="2550"/>
              </a:lnSpc>
              <a:buNone/>
            </a:pPr>
            <a:r>
              <a:rPr lang="en-US" sz="1700" dirty="0">
                <a:solidFill>
                  <a:srgbClr val="14202E"/>
                </a:solidFill>
                <a:latin typeface="Inter" pitchFamily="34" charset="0"/>
                <a:ea typeface="Inter" pitchFamily="34" charset="-122"/>
                <a:cs typeface="Inter" pitchFamily="34" charset="-120"/>
              </a:rPr>
              <a:t>Detections are combined across multiple frames before an event is logged and an alert is raised. A lightweight web dashboard gives the invigilator a live, seat-wise view, and every decision on a flagged event stays with the human reviewer. It is an assistant for review, not an automated verdict.</a:t>
            </a:r>
            <a:endParaRPr lang="en-US" sz="1700" dirty="0"/>
          </a:p>
        </p:txBody>
      </p:sp>
      <p:sp>
        <p:nvSpPr>
          <p:cNvPr id="5" name="Text 3"/>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6"/>
                </a:solidFill>
                <a:latin typeface="Inter" pitchFamily="34" charset="0"/>
                <a:ea typeface="Inter" pitchFamily="34" charset="-122"/>
                <a:cs typeface="Inter" pitchFamily="34" charset="-120"/>
              </a:rPr>
              <a:t>Smart Surveillance System · Major Project Phase-1 · Review-2</a:t>
            </a:r>
            <a:endParaRPr lang="en-US" sz="1200" dirty="0"/>
          </a:p>
        </p:txBody>
      </p:sp>
      <p:sp>
        <p:nvSpPr>
          <p:cNvPr id="6" name="Text 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6"/>
                </a:solidFill>
                <a:latin typeface="Inter" pitchFamily="34" charset="0"/>
                <a:ea typeface="Inter" pitchFamily="34" charset="-122"/>
                <a:cs typeface="Inter"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5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7C86"/>
                </a:solidFill>
                <a:latin typeface="Inter" pitchFamily="34" charset="0"/>
                <a:ea typeface="Inter" pitchFamily="34" charset="-122"/>
                <a:cs typeface="Inter" pitchFamily="34" charset="-120"/>
              </a:rPr>
              <a:t>Introduction</a:t>
            </a:r>
            <a:endParaRPr lang="en-US" sz="3200" dirty="0"/>
          </a:p>
        </p:txBody>
      </p:sp>
      <p:sp>
        <p:nvSpPr>
          <p:cNvPr id="3" name="Text 1"/>
          <p:cNvSpPr/>
          <p:nvPr/>
        </p:nvSpPr>
        <p:spPr>
          <a:xfrm>
            <a:off x="869696" y="1564580"/>
            <a:ext cx="10818876" cy="1903611"/>
          </a:xfrm>
          <a:prstGeom prst="rect">
            <a:avLst/>
          </a:prstGeom>
          <a:noFill/>
          <a:ln/>
        </p:spPr>
        <p:txBody>
          <a:bodyPr wrap="square" lIns="0" tIns="0" rIns="0" bIns="0" rtlCol="0" anchor="t">
            <a:normAutofit/>
          </a:bodyPr>
          <a:lstStyle/>
          <a:p>
            <a:pPr algn="l" marL="197104" indent="-197104">
              <a:lnSpc>
                <a:spcPts val="2465"/>
              </a:lnSpc>
              <a:buSzPct val="100000"/>
              <a:buChar char="•"/>
            </a:pPr>
            <a:r>
              <a:rPr lang="en-US" sz="1700" dirty="0">
                <a:solidFill>
                  <a:srgbClr val="14202E"/>
                </a:solidFill>
                <a:latin typeface="Inter" pitchFamily="34" charset="0"/>
                <a:ea typeface="Inter" pitchFamily="34" charset="-122"/>
                <a:cs typeface="Inter" pitchFamily="34" charset="-120"/>
              </a:rPr>
              <a:t>Invigilators must watch dozens of students at once, which is physically impossible to sustain for a whole exam.</a:t>
            </a:r>
            <a:endParaRPr lang="en-US" sz="1700" dirty="0"/>
          </a:p>
          <a:p>
            <a:pPr algn="l" marL="197104" indent="-197104">
              <a:lnSpc>
                <a:spcPts val="2465"/>
              </a:lnSpc>
              <a:buSzPct val="100000"/>
              <a:buChar char="•"/>
            </a:pPr>
            <a:r>
              <a:rPr lang="en-US" sz="1700" dirty="0">
                <a:solidFill>
                  <a:srgbClr val="14202E"/>
                </a:solidFill>
                <a:latin typeface="Inter" pitchFamily="34" charset="0"/>
                <a:ea typeface="Inter" pitchFamily="34" charset="-122"/>
                <a:cs typeface="Inter" pitchFamily="34" charset="-120"/>
              </a:rPr>
              <a:t>Subtle cues such as a quick glance, a hidden phone or a whispered exchange are brief, easy to miss and hard to prove later.</a:t>
            </a:r>
            <a:endParaRPr lang="en-US" sz="1700" dirty="0"/>
          </a:p>
          <a:p>
            <a:pPr algn="l" marL="197104" indent="-197104">
              <a:lnSpc>
                <a:spcPts val="2465"/>
              </a:lnSpc>
              <a:buSzPct val="100000"/>
              <a:buChar char="•"/>
            </a:pPr>
            <a:r>
              <a:rPr lang="en-US" sz="1700" dirty="0">
                <a:solidFill>
                  <a:srgbClr val="14202E"/>
                </a:solidFill>
                <a:latin typeface="Inter" pitchFamily="34" charset="0"/>
                <a:ea typeface="Inter" pitchFamily="34" charset="-122"/>
                <a:cs typeface="Inter" pitchFamily="34" charset="-120"/>
              </a:rPr>
              <a:t>Every exam hall already has CCTV or a webcam; computer vision can watch that feed continuously.</a:t>
            </a:r>
            <a:endParaRPr lang="en-US" sz="1700" dirty="0"/>
          </a:p>
          <a:p>
            <a:pPr algn="l" marL="197104" indent="-197104">
              <a:lnSpc>
                <a:spcPts val="2465"/>
              </a:lnSpc>
              <a:buSzPct val="100000"/>
              <a:buChar char="•"/>
            </a:pPr>
            <a:r>
              <a:rPr lang="en-US" sz="1700" dirty="0">
                <a:solidFill>
                  <a:srgbClr val="14202E"/>
                </a:solidFill>
                <a:latin typeface="Inter" pitchFamily="34" charset="0"/>
                <a:ea typeface="Inter" pitchFamily="34" charset="-122"/>
                <a:cs typeface="Inter" pitchFamily="34" charset="-120"/>
              </a:rPr>
              <a:t>The system hands the invigilator a short, timestamped shortlist instead of hours of raw footage.</a:t>
            </a:r>
            <a:endParaRPr lang="en-US" sz="1700" dirty="0"/>
          </a:p>
        </p:txBody>
      </p:sp>
      <p:sp>
        <p:nvSpPr>
          <p:cNvPr id="4" name="Text 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6"/>
                </a:solidFill>
                <a:latin typeface="Inter" pitchFamily="34" charset="0"/>
                <a:ea typeface="Inter" pitchFamily="34" charset="-122"/>
                <a:cs typeface="Inter" pitchFamily="34" charset="-120"/>
              </a:rPr>
              <a:t>Smart Surveillance System · Major Project Phase-1 · Review-2</a:t>
            </a:r>
            <a:endParaRPr lang="en-US" sz="1200" dirty="0"/>
          </a:p>
        </p:txBody>
      </p:sp>
      <p:sp>
        <p:nvSpPr>
          <p:cNvPr id="5" name="Text 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6"/>
                </a:solidFill>
                <a:latin typeface="Inter" pitchFamily="34" charset="0"/>
                <a:ea typeface="Inter" pitchFamily="34" charset="-122"/>
                <a:cs typeface="Inter"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5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7C86"/>
                </a:solidFill>
                <a:latin typeface="Inter" pitchFamily="34" charset="0"/>
                <a:ea typeface="Inter" pitchFamily="34" charset="-122"/>
                <a:cs typeface="Inter" pitchFamily="34" charset="-120"/>
              </a:rPr>
              <a:t>Overview</a:t>
            </a:r>
            <a:endParaRPr lang="en-US" sz="3200" dirty="0"/>
          </a:p>
        </p:txBody>
      </p:sp>
      <p:sp>
        <p:nvSpPr>
          <p:cNvPr id="3" name="Shape 1"/>
          <p:cNvSpPr/>
          <p:nvPr/>
        </p:nvSpPr>
        <p:spPr>
          <a:xfrm>
            <a:off x="812800" y="1564580"/>
            <a:ext cx="5181600" cy="2647950"/>
          </a:xfrm>
          <a:prstGeom prst="roundRect">
            <a:avLst>
              <a:gd name="adj" fmla="val 3837"/>
            </a:avLst>
          </a:prstGeom>
          <a:solidFill>
            <a:srgbClr val="FFFFFF"/>
          </a:solidFill>
          <a:ln/>
        </p:spPr>
      </p:sp>
      <p:sp>
        <p:nvSpPr>
          <p:cNvPr id="4" name="Shape 2"/>
          <p:cNvSpPr/>
          <p:nvPr/>
        </p:nvSpPr>
        <p:spPr>
          <a:xfrm>
            <a:off x="812800" y="1564580"/>
            <a:ext cx="5181600" cy="2647950"/>
          </a:xfrm>
          <a:custGeom>
            <a:avLst/>
            <a:gdLst/>
            <a:ahLst/>
            <a:cxnLst/>
            <a:rect l="l" t="t" r="r" b="b"/>
            <a:pathLst>
              <a:path w="5181600" h="2647950">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0E7C86"/>
          </a:solidFill>
          <a:ln/>
        </p:spPr>
      </p:sp>
      <p:sp>
        <p:nvSpPr>
          <p:cNvPr id="5" name="Text 3"/>
          <p:cNvSpPr/>
          <p:nvPr/>
        </p:nvSpPr>
        <p:spPr>
          <a:xfrm>
            <a:off x="1066800" y="1869380"/>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E7C86"/>
                </a:solidFill>
                <a:latin typeface="Inter" pitchFamily="34" charset="0"/>
                <a:ea typeface="Inter" pitchFamily="34" charset="-122"/>
                <a:cs typeface="Inter" pitchFamily="34" charset="-120"/>
              </a:rPr>
              <a:t>Objectives</a:t>
            </a:r>
            <a:endParaRPr lang="en-US" sz="2000" dirty="0"/>
          </a:p>
        </p:txBody>
      </p:sp>
      <p:sp>
        <p:nvSpPr>
          <p:cNvPr id="6" name="Text 4"/>
          <p:cNvSpPr/>
          <p:nvPr/>
        </p:nvSpPr>
        <p:spPr>
          <a:xfrm>
            <a:off x="1144270" y="2301180"/>
            <a:ext cx="4728718" cy="1130300"/>
          </a:xfrm>
          <a:prstGeom prst="rect">
            <a:avLst/>
          </a:prstGeom>
          <a:noFill/>
          <a:ln/>
        </p:spPr>
        <p:txBody>
          <a:bodyPr wrap="square" lIns="0" tIns="0" rIns="0" bIns="0" rtlCol="0" anchor="t">
            <a:normAutofit/>
          </a:bodyPr>
          <a:lstStyle/>
          <a:p>
            <a:pPr algn="l" marL="176530" indent="-176530">
              <a:lnSpc>
                <a:spcPts val="2175"/>
              </a:lnSpc>
              <a:buSzPct val="100000"/>
              <a:buChar char="•"/>
            </a:pPr>
            <a:r>
              <a:rPr lang="en-US" sz="1500" dirty="0">
                <a:solidFill>
                  <a:srgbClr val="14202E"/>
                </a:solidFill>
                <a:latin typeface="Inter" pitchFamily="34" charset="0"/>
                <a:ea typeface="Inter" pitchFamily="34" charset="-122"/>
                <a:cs typeface="Inter" pitchFamily="34" charset="-120"/>
              </a:rPr>
              <a:t>Continuous monitoring of live or recorded video</a:t>
            </a:r>
            <a:endParaRPr lang="en-US" sz="1500" dirty="0"/>
          </a:p>
          <a:p>
            <a:pPr algn="l" marL="176530" indent="-176530">
              <a:lnSpc>
                <a:spcPts val="2175"/>
              </a:lnSpc>
              <a:buSzPct val="100000"/>
              <a:buChar char="•"/>
            </a:pPr>
            <a:r>
              <a:rPr lang="en-US" sz="1500" dirty="0">
                <a:solidFill>
                  <a:srgbClr val="14202E"/>
                </a:solidFill>
                <a:latin typeface="Inter" pitchFamily="34" charset="0"/>
                <a:ea typeface="Inter" pitchFamily="34" charset="-122"/>
                <a:cs typeface="Inter" pitchFamily="34" charset="-120"/>
              </a:rPr>
              <a:t>Phone-use detection</a:t>
            </a:r>
            <a:endParaRPr lang="en-US" sz="1500" dirty="0"/>
          </a:p>
          <a:p>
            <a:pPr algn="l" marL="176530" indent="-176530">
              <a:lnSpc>
                <a:spcPts val="2175"/>
              </a:lnSpc>
              <a:buSzPct val="100000"/>
              <a:buChar char="•"/>
            </a:pPr>
            <a:r>
              <a:rPr lang="en-US" sz="1500" dirty="0">
                <a:solidFill>
                  <a:srgbClr val="14202E"/>
                </a:solidFill>
                <a:latin typeface="Inter" pitchFamily="34" charset="0"/>
                <a:ea typeface="Inter" pitchFamily="34" charset="-122"/>
                <a:cs typeface="Inter" pitchFamily="34" charset="-120"/>
              </a:rPr>
              <a:t>Talking / interaction detection</a:t>
            </a:r>
            <a:endParaRPr lang="en-US" sz="1500" dirty="0"/>
          </a:p>
          <a:p>
            <a:pPr algn="l" marL="176530" indent="-176530">
              <a:lnSpc>
                <a:spcPts val="2175"/>
              </a:lnSpc>
              <a:buSzPct val="100000"/>
              <a:buChar char="•"/>
            </a:pPr>
            <a:r>
              <a:rPr lang="en-US" sz="1500" dirty="0">
                <a:solidFill>
                  <a:srgbClr val="14202E"/>
                </a:solidFill>
                <a:latin typeface="Inter" pitchFamily="34" charset="0"/>
                <a:ea typeface="Inter" pitchFamily="34" charset="-122"/>
                <a:cs typeface="Inter" pitchFamily="34" charset="-120"/>
              </a:rPr>
              <a:t>Repeated-look and head-movement analysis</a:t>
            </a:r>
            <a:endParaRPr lang="en-US" sz="1500" dirty="0"/>
          </a:p>
        </p:txBody>
      </p:sp>
      <p:sp>
        <p:nvSpPr>
          <p:cNvPr id="7" name="Shape 5"/>
          <p:cNvSpPr/>
          <p:nvPr/>
        </p:nvSpPr>
        <p:spPr>
          <a:xfrm>
            <a:off x="6197600" y="1564580"/>
            <a:ext cx="5181600" cy="2647950"/>
          </a:xfrm>
          <a:prstGeom prst="roundRect">
            <a:avLst>
              <a:gd name="adj" fmla="val 3837"/>
            </a:avLst>
          </a:prstGeom>
          <a:solidFill>
            <a:srgbClr val="FFFFFF"/>
          </a:solidFill>
          <a:ln/>
        </p:spPr>
      </p:sp>
      <p:sp>
        <p:nvSpPr>
          <p:cNvPr id="8" name="Shape 6"/>
          <p:cNvSpPr/>
          <p:nvPr/>
        </p:nvSpPr>
        <p:spPr>
          <a:xfrm>
            <a:off x="6197600" y="1564580"/>
            <a:ext cx="5181600" cy="2647950"/>
          </a:xfrm>
          <a:custGeom>
            <a:avLst/>
            <a:gdLst/>
            <a:ahLst/>
            <a:cxnLst/>
            <a:rect l="l" t="t" r="r" b="b"/>
            <a:pathLst>
              <a:path w="5181600" h="2647950">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B4531A"/>
          </a:solidFill>
          <a:ln/>
        </p:spPr>
      </p:sp>
      <p:sp>
        <p:nvSpPr>
          <p:cNvPr id="9" name="Text 7"/>
          <p:cNvSpPr/>
          <p:nvPr/>
        </p:nvSpPr>
        <p:spPr>
          <a:xfrm>
            <a:off x="6451600" y="1869380"/>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4531A"/>
                </a:solidFill>
                <a:latin typeface="Inter" pitchFamily="34" charset="0"/>
                <a:ea typeface="Inter" pitchFamily="34" charset="-122"/>
                <a:cs typeface="Inter" pitchFamily="34" charset="-120"/>
              </a:rPr>
              <a:t>Outputs</a:t>
            </a:r>
            <a:endParaRPr lang="en-US" sz="2000" dirty="0"/>
          </a:p>
        </p:txBody>
      </p:sp>
      <p:sp>
        <p:nvSpPr>
          <p:cNvPr id="10" name="Text 8"/>
          <p:cNvSpPr/>
          <p:nvPr/>
        </p:nvSpPr>
        <p:spPr>
          <a:xfrm>
            <a:off x="6529070" y="2301180"/>
            <a:ext cx="4728718" cy="1682750"/>
          </a:xfrm>
          <a:prstGeom prst="rect">
            <a:avLst/>
          </a:prstGeom>
          <a:noFill/>
          <a:ln/>
        </p:spPr>
        <p:txBody>
          <a:bodyPr wrap="square" lIns="0" tIns="0" rIns="0" bIns="0" rtlCol="0" anchor="t">
            <a:normAutofit/>
          </a:bodyPr>
          <a:lstStyle/>
          <a:p>
            <a:pPr algn="l" marL="176530" indent="-176530">
              <a:lnSpc>
                <a:spcPts val="2175"/>
              </a:lnSpc>
              <a:buSzPct val="100000"/>
              <a:buChar char="•"/>
            </a:pPr>
            <a:r>
              <a:rPr lang="en-US" sz="1500" dirty="0">
                <a:solidFill>
                  <a:srgbClr val="14202E"/>
                </a:solidFill>
                <a:latin typeface="Inter" pitchFamily="34" charset="0"/>
                <a:ea typeface="Inter" pitchFamily="34" charset="-122"/>
                <a:cs typeface="Inter" pitchFamily="34" charset="-120"/>
              </a:rPr>
              <a:t>Timestamped alerts and event log</a:t>
            </a:r>
            <a:endParaRPr lang="en-US" sz="1500" dirty="0"/>
          </a:p>
          <a:p>
            <a:pPr algn="l" marL="176530" indent="-176530">
              <a:lnSpc>
                <a:spcPts val="2175"/>
              </a:lnSpc>
              <a:buSzPct val="100000"/>
              <a:buChar char="•"/>
            </a:pPr>
            <a:r>
              <a:rPr lang="en-US" sz="1500" dirty="0">
                <a:solidFill>
                  <a:srgbClr val="14202E"/>
                </a:solidFill>
                <a:latin typeface="Inter" pitchFamily="34" charset="0"/>
                <a:ea typeface="Inter" pitchFamily="34" charset="-122"/>
                <a:cs typeface="Inter" pitchFamily="34" charset="-120"/>
              </a:rPr>
              <a:t>Seat-wise live invigilator dashboard</a:t>
            </a:r>
            <a:endParaRPr lang="en-US" sz="1500" dirty="0"/>
          </a:p>
          <a:p>
            <a:pPr algn="l" marL="176530" indent="-176530">
              <a:lnSpc>
                <a:spcPts val="2175"/>
              </a:lnSpc>
              <a:buSzPct val="100000"/>
              <a:buChar char="•"/>
            </a:pPr>
            <a:r>
              <a:rPr lang="en-US" sz="1500" dirty="0">
                <a:solidFill>
                  <a:srgbClr val="14202E"/>
                </a:solidFill>
                <a:latin typeface="Inter" pitchFamily="34" charset="0"/>
                <a:ea typeface="Inter" pitchFamily="34" charset="-122"/>
                <a:cs typeface="Inter" pitchFamily="34" charset="-120"/>
              </a:rPr>
              <a:t>Human-in-the-loop: final call stays with the invigilator</a:t>
            </a:r>
            <a:endParaRPr lang="en-US" sz="1500" dirty="0"/>
          </a:p>
          <a:p>
            <a:pPr algn="l" marL="176530" indent="-176530">
              <a:lnSpc>
                <a:spcPts val="2175"/>
              </a:lnSpc>
              <a:buSzPct val="100000"/>
              <a:buChar char="•"/>
            </a:pPr>
            <a:r>
              <a:rPr lang="en-US" sz="1500" dirty="0">
                <a:solidFill>
                  <a:srgbClr val="14202E"/>
                </a:solidFill>
                <a:latin typeface="Inter" pitchFamily="34" charset="0"/>
                <a:ea typeface="Inter" pitchFamily="34" charset="-122"/>
                <a:cs typeface="Inter" pitchFamily="34" charset="-120"/>
              </a:rPr>
              <a:t>Privacy-conscious: only event metadata and short clips stored</a:t>
            </a:r>
            <a:endParaRPr lang="en-US" sz="1500" dirty="0"/>
          </a:p>
        </p:txBody>
      </p:sp>
      <p:sp>
        <p:nvSpPr>
          <p:cNvPr id="11" name="Text 9"/>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6"/>
                </a:solidFill>
                <a:latin typeface="Inter" pitchFamily="34" charset="0"/>
                <a:ea typeface="Inter" pitchFamily="34" charset="-122"/>
                <a:cs typeface="Inter" pitchFamily="34" charset="-120"/>
              </a:rPr>
              <a:t>Smart Surveillance System · Major Project Phase-1 · Review-2</a:t>
            </a:r>
            <a:endParaRPr lang="en-US" sz="1200" dirty="0"/>
          </a:p>
        </p:txBody>
      </p:sp>
      <p:sp>
        <p:nvSpPr>
          <p:cNvPr id="12" name="Text 1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6"/>
                </a:solidFill>
                <a:latin typeface="Inter" pitchFamily="34" charset="0"/>
                <a:ea typeface="Inter" pitchFamily="34" charset="-122"/>
                <a:cs typeface="Inter"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5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7C86"/>
                </a:solidFill>
                <a:latin typeface="Inter" pitchFamily="34" charset="0"/>
                <a:ea typeface="Inter" pitchFamily="34" charset="-122"/>
                <a:cs typeface="Inter" pitchFamily="34" charset="-120"/>
              </a:rPr>
              <a:t>Literature Survey (1/2)</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77280"/>
          <a:ext cx="10553700" cy="3377605"/>
        </p:xfrm>
        <a:graphic>
          <a:graphicData uri="http://schemas.openxmlformats.org/drawingml/2006/table">
            <a:tbl>
              <a:tblPr/>
              <a:tblGrid>
                <a:gridCol w="2638425"/>
                <a:gridCol w="2638425"/>
                <a:gridCol w="2638425"/>
                <a:gridCol w="2638425"/>
              </a:tblGrid>
              <a:tr h="497780">
                <a:tc>
                  <a:txBody>
                    <a:bodyPr/>
                    <a:lstStyle/>
                    <a:p>
                      <a:pPr indent="0" marL="0">
                        <a:lnSpc>
                          <a:spcPts val="1820"/>
                        </a:lnSpc>
                        <a:buNone/>
                      </a:pPr>
                      <a:r>
                        <a:rPr lang="en-US" sz="1300" b="1" dirty="0">
                          <a:solidFill>
                            <a:srgbClr val="FFFFFF"/>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127000" marR="127000" marT="127000" marB="127000" anchor="t">
                    <a:lnL w="12700" cap="flat" cmpd="sng" algn="ctr">
                      <a:solidFill>
                        <a:srgbClr val="C2C4C5"/>
                      </a:solidFill>
                      <a:prstDash val="solid"/>
                      <a:round/>
                      <a:headEnd type="none" w="med" len="med"/>
                      <a:tailEnd type="none" w="med" len="med"/>
                    </a:lnL>
                    <a:lnR w="12700" cap="flat" cmpd="sng" algn="ctr">
                      <a:solidFill>
                        <a:srgbClr val="0F656D"/>
                      </a:solidFill>
                      <a:prstDash val="solid"/>
                      <a:round/>
                      <a:headEnd type="none" w="med" len="med"/>
                      <a:tailEnd type="none" w="med" len="med"/>
                    </a:lnR>
                    <a:lnT w="12700" cap="flat" cmpd="sng" algn="ctr">
                      <a:solidFill>
                        <a:srgbClr val="C2C4C5"/>
                      </a:solidFill>
                      <a:prstDash val="solid"/>
                      <a:round/>
                      <a:headEnd type="none" w="med" len="med"/>
                      <a:tailEnd type="none" w="med" len="med"/>
                    </a:lnT>
                    <a:lnB w="12700" cap="flat" cmpd="sng" algn="ctr">
                      <a:solidFill>
                        <a:srgbClr val="0F656D"/>
                      </a:solidFill>
                      <a:prstDash val="solid"/>
                      <a:round/>
                      <a:headEnd type="none" w="med" len="med"/>
                      <a:tailEnd type="none" w="med" len="med"/>
                    </a:lnB>
                    <a:solidFill>
                      <a:srgbClr val="0E7C86"/>
                    </a:solidFill>
                  </a:tcPr>
                </a:tc>
                <a:tc>
                  <a:txBody>
                    <a:bodyPr/>
                    <a:lstStyle/>
                    <a:p>
                      <a:pPr indent="0" marL="0">
                        <a:lnSpc>
                          <a:spcPts val="1820"/>
                        </a:lnSpc>
                        <a:buNone/>
                      </a:pPr>
                      <a:r>
                        <a:rPr lang="en-US" sz="1300" b="1" dirty="0">
                          <a:solidFill>
                            <a:srgbClr val="FFFFFF"/>
                          </a:solidFill>
                          <a:latin typeface="Inter" pitchFamily="34" charset="0"/>
                          <a:ea typeface="Inter" pitchFamily="34" charset="-122"/>
                          <a:cs typeface="Inter" pitchFamily="34" charset="-120"/>
                        </a:rPr>
                        <a:t>Paper (Year)</a:t>
                      </a:r>
                      <a:endParaRPr lang="en-US" sz="1300" dirty="0">
                        <a:latin typeface="Inter" charset="0"/>
                        <a:ea typeface="Inter" charset="0"/>
                        <a:cs typeface="Inter" charset="0"/>
                      </a:endParaRPr>
                    </a:p>
                  </a:txBody>
                  <a:tcPr marL="127000" marR="127000" marT="127000" marB="127000" anchor="t">
                    <a:lnL w="12700" cap="flat" cmpd="sng" algn="ctr">
                      <a:solidFill>
                        <a:srgbClr val="0F656D"/>
                      </a:solidFill>
                      <a:prstDash val="solid"/>
                      <a:round/>
                      <a:headEnd type="none" w="med" len="med"/>
                      <a:tailEnd type="none" w="med" len="med"/>
                    </a:lnL>
                    <a:lnR w="12700" cap="flat" cmpd="sng" algn="ctr">
                      <a:solidFill>
                        <a:srgbClr val="0F656D"/>
                      </a:solidFill>
                      <a:prstDash val="solid"/>
                      <a:round/>
                      <a:headEnd type="none" w="med" len="med"/>
                      <a:tailEnd type="none" w="med" len="med"/>
                    </a:lnR>
                    <a:lnT w="12700" cap="flat" cmpd="sng" algn="ctr">
                      <a:solidFill>
                        <a:srgbClr val="C2C4C5"/>
                      </a:solidFill>
                      <a:prstDash val="solid"/>
                      <a:round/>
                      <a:headEnd type="none" w="med" len="med"/>
                      <a:tailEnd type="none" w="med" len="med"/>
                    </a:lnT>
                    <a:lnB w="12700" cap="flat" cmpd="sng" algn="ctr">
                      <a:solidFill>
                        <a:srgbClr val="0F656D"/>
                      </a:solidFill>
                      <a:prstDash val="solid"/>
                      <a:round/>
                      <a:headEnd type="none" w="med" len="med"/>
                      <a:tailEnd type="none" w="med" len="med"/>
                    </a:lnB>
                    <a:solidFill>
                      <a:srgbClr val="0E7C86"/>
                    </a:solidFill>
                  </a:tcPr>
                </a:tc>
                <a:tc>
                  <a:txBody>
                    <a:bodyPr/>
                    <a:lstStyle/>
                    <a:p>
                      <a:pPr indent="0" marL="0">
                        <a:lnSpc>
                          <a:spcPts val="1820"/>
                        </a:lnSpc>
                        <a:buNone/>
                      </a:pPr>
                      <a:r>
                        <a:rPr lang="en-US" sz="1300" b="1" dirty="0">
                          <a:solidFill>
                            <a:srgbClr val="FFFFFF"/>
                          </a:solidFill>
                          <a:latin typeface="Inter" pitchFamily="34" charset="0"/>
                          <a:ea typeface="Inter" pitchFamily="34" charset="-122"/>
                          <a:cs typeface="Inter" pitchFamily="34" charset="-120"/>
                        </a:rPr>
                        <a:t>Method</a:t>
                      </a:r>
                      <a:endParaRPr lang="en-US" sz="1300" dirty="0">
                        <a:latin typeface="Inter" charset="0"/>
                        <a:ea typeface="Inter" charset="0"/>
                        <a:cs typeface="Inter" charset="0"/>
                      </a:endParaRPr>
                    </a:p>
                  </a:txBody>
                  <a:tcPr marL="127000" marR="127000" marT="127000" marB="127000" anchor="t">
                    <a:lnL w="12700" cap="flat" cmpd="sng" algn="ctr">
                      <a:solidFill>
                        <a:srgbClr val="0F656D"/>
                      </a:solidFill>
                      <a:prstDash val="solid"/>
                      <a:round/>
                      <a:headEnd type="none" w="med" len="med"/>
                      <a:tailEnd type="none" w="med" len="med"/>
                    </a:lnL>
                    <a:lnR w="12700" cap="flat" cmpd="sng" algn="ctr">
                      <a:solidFill>
                        <a:srgbClr val="0F656D"/>
                      </a:solidFill>
                      <a:prstDash val="solid"/>
                      <a:round/>
                      <a:headEnd type="none" w="med" len="med"/>
                      <a:tailEnd type="none" w="med" len="med"/>
                    </a:lnR>
                    <a:lnT w="12700" cap="flat" cmpd="sng" algn="ctr">
                      <a:solidFill>
                        <a:srgbClr val="C2C4C5"/>
                      </a:solidFill>
                      <a:prstDash val="solid"/>
                      <a:round/>
                      <a:headEnd type="none" w="med" len="med"/>
                      <a:tailEnd type="none" w="med" len="med"/>
                    </a:lnT>
                    <a:lnB w="12700" cap="flat" cmpd="sng" algn="ctr">
                      <a:solidFill>
                        <a:srgbClr val="0F656D"/>
                      </a:solidFill>
                      <a:prstDash val="solid"/>
                      <a:round/>
                      <a:headEnd type="none" w="med" len="med"/>
                      <a:tailEnd type="none" w="med" len="med"/>
                    </a:lnB>
                    <a:solidFill>
                      <a:srgbClr val="0E7C86"/>
                    </a:solidFill>
                  </a:tcPr>
                </a:tc>
                <a:tc>
                  <a:txBody>
                    <a:bodyPr/>
                    <a:lstStyle/>
                    <a:p>
                      <a:pPr indent="0" marL="0">
                        <a:lnSpc>
                          <a:spcPts val="1820"/>
                        </a:lnSpc>
                        <a:buNone/>
                      </a:pPr>
                      <a:r>
                        <a:rPr lang="en-US" sz="1300" b="1" dirty="0">
                          <a:solidFill>
                            <a:srgbClr val="FFFFFF"/>
                          </a:solidFill>
                          <a:latin typeface="Inter" pitchFamily="34" charset="0"/>
                          <a:ea typeface="Inter" pitchFamily="34" charset="-122"/>
                          <a:cs typeface="Inter" pitchFamily="34" charset="-120"/>
                        </a:rPr>
                        <a:t>Key Result</a:t>
                      </a:r>
                      <a:endParaRPr lang="en-US" sz="1300" dirty="0">
                        <a:latin typeface="Inter" charset="0"/>
                        <a:ea typeface="Inter" charset="0"/>
                        <a:cs typeface="Inter" charset="0"/>
                      </a:endParaRPr>
                    </a:p>
                  </a:txBody>
                  <a:tcPr marL="127000" marR="127000" marT="127000" marB="127000" anchor="t">
                    <a:lnL w="12700" cap="flat" cmpd="sng" algn="ctr">
                      <a:solidFill>
                        <a:srgbClr val="0F656D"/>
                      </a:solidFill>
                      <a:prstDash val="solid"/>
                      <a:round/>
                      <a:headEnd type="none" w="med" len="med"/>
                      <a:tailEnd type="none" w="med" len="med"/>
                    </a:lnL>
                    <a:lnR w="12700" cap="flat" cmpd="sng" algn="ctr">
                      <a:solidFill>
                        <a:srgbClr val="0F656D"/>
                      </a:solidFill>
                      <a:prstDash val="solid"/>
                      <a:round/>
                      <a:headEnd type="none" w="med" len="med"/>
                      <a:tailEnd type="none" w="med" len="med"/>
                    </a:lnR>
                    <a:lnT w="12700" cap="flat" cmpd="sng" algn="ctr">
                      <a:solidFill>
                        <a:srgbClr val="C2C4C5"/>
                      </a:solidFill>
                      <a:prstDash val="solid"/>
                      <a:round/>
                      <a:headEnd type="none" w="med" len="med"/>
                      <a:tailEnd type="none" w="med" len="med"/>
                    </a:lnT>
                    <a:lnB w="12700" cap="flat" cmpd="sng" algn="ctr">
                      <a:solidFill>
                        <a:srgbClr val="0F656D"/>
                      </a:solidFill>
                      <a:prstDash val="solid"/>
                      <a:round/>
                      <a:headEnd type="none" w="med" len="med"/>
                      <a:tailEnd type="none" w="med" len="med"/>
                    </a:lnB>
                    <a:solidFill>
                      <a:srgbClr val="0E7C86"/>
                    </a:solidFill>
                  </a:tcPr>
                </a:tc>
              </a:tr>
              <a:tr h="959941">
                <a:tc>
                  <a:txBody>
                    <a:bodyPr/>
                    <a:lstStyle/>
                    <a:p>
                      <a:pPr indent="0" marL="0">
                        <a:lnSpc>
                          <a:spcPts val="1820"/>
                        </a:lnSpc>
                        <a:buNone/>
                      </a:pPr>
                      <a:r>
                        <a:rPr lang="en-US" sz="1300" dirty="0">
                          <a:solidFill>
                            <a:srgbClr val="14202E"/>
                          </a:solidFill>
                          <a:latin typeface="Inter" pitchFamily="34" charset="0"/>
                          <a:ea typeface="Inter" pitchFamily="34" charset="-122"/>
                          <a:cs typeface="Inter" pitchFamily="34" charset="-120"/>
                        </a:rPr>
                        <a:t>1</a:t>
                      </a:r>
                      <a:endParaRPr lang="en-US" sz="1300" dirty="0">
                        <a:latin typeface="Inter" charset="0"/>
                        <a:ea typeface="Inter" charset="0"/>
                        <a:cs typeface="Inter" charset="0"/>
                      </a:endParaRPr>
                    </a:p>
                  </a:txBody>
                  <a:tcPr marL="127000" marR="127000" marT="127000" marB="127000" anchor="t">
                    <a:lnL w="12700" cap="flat" cmpd="sng" algn="ctr">
                      <a:solidFill>
                        <a:srgbClr val="C2C4C5"/>
                      </a:solidFill>
                      <a:prstDash val="solid"/>
                      <a:round/>
                      <a:headEnd type="none" w="med" len="med"/>
                      <a:tailEnd type="none" w="med" len="med"/>
                    </a:lnL>
                    <a:lnR w="12700" cap="flat" cmpd="sng" algn="ctr">
                      <a:solidFill>
                        <a:srgbClr val="C2C4C5"/>
                      </a:solidFill>
                      <a:prstDash val="solid"/>
                      <a:round/>
                      <a:headEnd type="none" w="med" len="med"/>
                      <a:tailEnd type="none" w="med" len="med"/>
                    </a:lnR>
                    <a:lnT w="12700" cap="flat" cmpd="sng" algn="ctr">
                      <a:solidFill>
                        <a:srgbClr val="0F656D"/>
                      </a:solidFill>
                      <a:prstDash val="solid"/>
                      <a:round/>
                      <a:headEnd type="none" w="med" len="med"/>
                      <a:tailEnd type="none" w="med" len="med"/>
                    </a:lnT>
                    <a:lnB w="12700" cap="flat" cmpd="sng" algn="ctr">
                      <a:solidFill>
                        <a:srgbClr val="C2C4C5"/>
                      </a:solidFill>
                      <a:prstDash val="solid"/>
                      <a:round/>
                      <a:headEnd type="none" w="med" len="med"/>
                      <a:tailEnd type="none" w="med" len="med"/>
                    </a:lnB>
                  </a:tcPr>
                </a:tc>
                <a:tc>
                  <a:txBody>
                    <a:bodyPr/>
                    <a:lstStyle/>
                    <a:p>
                      <a:pPr indent="0" marL="0">
                        <a:lnSpc>
                          <a:spcPts val="1820"/>
                        </a:lnSpc>
                        <a:buNone/>
                      </a:pPr>
                      <a:r>
                        <a:rPr lang="en-US" sz="1300" dirty="0">
                          <a:solidFill>
                            <a:srgbClr val="14202E"/>
                          </a:solidFill>
                          <a:latin typeface="Inter" pitchFamily="34" charset="0"/>
                          <a:ea typeface="Inter" pitchFamily="34" charset="-122"/>
                          <a:cs typeface="Inter" pitchFamily="34" charset="-120"/>
                        </a:rPr>
                        <a:t>Real-Time Cheating Detection in Exam Halls Using CV &amp; Embedded Systems (2025)</a:t>
                      </a:r>
                      <a:endParaRPr lang="en-US" sz="1300" dirty="0">
                        <a:latin typeface="Inter" charset="0"/>
                        <a:ea typeface="Inter" charset="0"/>
                        <a:cs typeface="Inter" charset="0"/>
                      </a:endParaRPr>
                    </a:p>
                  </a:txBody>
                  <a:tcPr marL="127000" marR="127000" marT="127000" marB="127000" anchor="t">
                    <a:lnL w="12700" cap="flat" cmpd="sng" algn="ctr">
                      <a:solidFill>
                        <a:srgbClr val="C2C4C5"/>
                      </a:solidFill>
                      <a:prstDash val="solid"/>
                      <a:round/>
                      <a:headEnd type="none" w="med" len="med"/>
                      <a:tailEnd type="none" w="med" len="med"/>
                    </a:lnL>
                    <a:lnR w="12700" cap="flat" cmpd="sng" algn="ctr">
                      <a:solidFill>
                        <a:srgbClr val="C2C4C5"/>
                      </a:solidFill>
                      <a:prstDash val="solid"/>
                      <a:round/>
                      <a:headEnd type="none" w="med" len="med"/>
                      <a:tailEnd type="none" w="med" len="med"/>
                    </a:lnR>
                    <a:lnT w="12700" cap="flat" cmpd="sng" algn="ctr">
                      <a:solidFill>
                        <a:srgbClr val="0F656D"/>
                      </a:solidFill>
                      <a:prstDash val="solid"/>
                      <a:round/>
                      <a:headEnd type="none" w="med" len="med"/>
                      <a:tailEnd type="none" w="med" len="med"/>
                    </a:lnT>
                    <a:lnB w="12700" cap="flat" cmpd="sng" algn="ctr">
                      <a:solidFill>
                        <a:srgbClr val="C2C4C5"/>
                      </a:solidFill>
                      <a:prstDash val="solid"/>
                      <a:round/>
                      <a:headEnd type="none" w="med" len="med"/>
                      <a:tailEnd type="none" w="med" len="med"/>
                    </a:lnB>
                  </a:tcPr>
                </a:tc>
                <a:tc>
                  <a:txBody>
                    <a:bodyPr/>
                    <a:lstStyle/>
                    <a:p>
                      <a:pPr indent="0" marL="0">
                        <a:lnSpc>
                          <a:spcPts val="1820"/>
                        </a:lnSpc>
                        <a:buNone/>
                      </a:pPr>
                      <a:r>
                        <a:rPr lang="en-US" sz="1300" dirty="0">
                          <a:solidFill>
                            <a:srgbClr val="14202E"/>
                          </a:solidFill>
                          <a:latin typeface="Inter" pitchFamily="34" charset="0"/>
                          <a:ea typeface="Inter" pitchFamily="34" charset="-122"/>
                          <a:cs typeface="Inter" pitchFamily="34" charset="-120"/>
                        </a:rPr>
                        <a:t>Motion detection + face recognition, Raspberry Pi 4B</a:t>
                      </a:r>
                      <a:endParaRPr lang="en-US" sz="1300" dirty="0">
                        <a:latin typeface="Inter" charset="0"/>
                        <a:ea typeface="Inter" charset="0"/>
                        <a:cs typeface="Inter" charset="0"/>
                      </a:endParaRPr>
                    </a:p>
                  </a:txBody>
                  <a:tcPr marL="127000" marR="127000" marT="127000" marB="127000" anchor="t">
                    <a:lnL w="12700" cap="flat" cmpd="sng" algn="ctr">
                      <a:solidFill>
                        <a:srgbClr val="C2C4C5"/>
                      </a:solidFill>
                      <a:prstDash val="solid"/>
                      <a:round/>
                      <a:headEnd type="none" w="med" len="med"/>
                      <a:tailEnd type="none" w="med" len="med"/>
                    </a:lnL>
                    <a:lnR w="12700" cap="flat" cmpd="sng" algn="ctr">
                      <a:solidFill>
                        <a:srgbClr val="C2C4C5"/>
                      </a:solidFill>
                      <a:prstDash val="solid"/>
                      <a:round/>
                      <a:headEnd type="none" w="med" len="med"/>
                      <a:tailEnd type="none" w="med" len="med"/>
                    </a:lnR>
                    <a:lnT w="12700" cap="flat" cmpd="sng" algn="ctr">
                      <a:solidFill>
                        <a:srgbClr val="0F656D"/>
                      </a:solidFill>
                      <a:prstDash val="solid"/>
                      <a:round/>
                      <a:headEnd type="none" w="med" len="med"/>
                      <a:tailEnd type="none" w="med" len="med"/>
                    </a:lnT>
                    <a:lnB w="12700" cap="flat" cmpd="sng" algn="ctr">
                      <a:solidFill>
                        <a:srgbClr val="C2C4C5"/>
                      </a:solidFill>
                      <a:prstDash val="solid"/>
                      <a:round/>
                      <a:headEnd type="none" w="med" len="med"/>
                      <a:tailEnd type="none" w="med" len="med"/>
                    </a:lnB>
                  </a:tcPr>
                </a:tc>
                <a:tc>
                  <a:txBody>
                    <a:bodyPr/>
                    <a:lstStyle/>
                    <a:p>
                      <a:pPr indent="0" marL="0">
                        <a:lnSpc>
                          <a:spcPts val="1820"/>
                        </a:lnSpc>
                        <a:buNone/>
                      </a:pPr>
                      <a:r>
                        <a:rPr lang="en-US" sz="1300" dirty="0">
                          <a:solidFill>
                            <a:srgbClr val="14202E"/>
                          </a:solidFill>
                          <a:latin typeface="Inter" pitchFamily="34" charset="0"/>
                          <a:ea typeface="Inter" pitchFamily="34" charset="-122"/>
                          <a:cs typeface="Inter" pitchFamily="34" charset="-120"/>
                        </a:rPr>
                        <a:t>Real-time alerts with stored visual evidence</a:t>
                      </a:r>
                      <a:endParaRPr lang="en-US" sz="1300" dirty="0">
                        <a:latin typeface="Inter" charset="0"/>
                        <a:ea typeface="Inter" charset="0"/>
                        <a:cs typeface="Inter" charset="0"/>
                      </a:endParaRPr>
                    </a:p>
                  </a:txBody>
                  <a:tcPr marL="127000" marR="127000" marT="127000" marB="127000" anchor="t">
                    <a:lnL w="12700" cap="flat" cmpd="sng" algn="ctr">
                      <a:solidFill>
                        <a:srgbClr val="C2C4C5"/>
                      </a:solidFill>
                      <a:prstDash val="solid"/>
                      <a:round/>
                      <a:headEnd type="none" w="med" len="med"/>
                      <a:tailEnd type="none" w="med" len="med"/>
                    </a:lnL>
                    <a:lnR w="12700" cap="flat" cmpd="sng" algn="ctr">
                      <a:solidFill>
                        <a:srgbClr val="C2C4C5"/>
                      </a:solidFill>
                      <a:prstDash val="solid"/>
                      <a:round/>
                      <a:headEnd type="none" w="med" len="med"/>
                      <a:tailEnd type="none" w="med" len="med"/>
                    </a:lnR>
                    <a:lnT w="12700" cap="flat" cmpd="sng" algn="ctr">
                      <a:solidFill>
                        <a:srgbClr val="0F656D"/>
                      </a:solidFill>
                      <a:prstDash val="solid"/>
                      <a:round/>
                      <a:headEnd type="none" w="med" len="med"/>
                      <a:tailEnd type="none" w="med" len="med"/>
                    </a:lnT>
                    <a:lnB w="12700" cap="flat" cmpd="sng" algn="ctr">
                      <a:solidFill>
                        <a:srgbClr val="C2C4C5"/>
                      </a:solidFill>
                      <a:prstDash val="solid"/>
                      <a:round/>
                      <a:headEnd type="none" w="med" len="med"/>
                      <a:tailEnd type="none" w="med" len="med"/>
                    </a:lnB>
                  </a:tcPr>
                </a:tc>
              </a:tr>
              <a:tr h="959941">
                <a:tc>
                  <a:txBody>
                    <a:bodyPr/>
                    <a:lstStyle/>
                    <a:p>
                      <a:pPr indent="0" marL="0">
                        <a:lnSpc>
                          <a:spcPts val="1820"/>
                        </a:lnSpc>
                        <a:buNone/>
                      </a:pPr>
                      <a:r>
                        <a:rPr lang="en-US" sz="1300" dirty="0">
                          <a:solidFill>
                            <a:srgbClr val="14202E"/>
                          </a:solidFill>
                          <a:latin typeface="Inter" pitchFamily="34" charset="0"/>
                          <a:ea typeface="Inter" pitchFamily="34" charset="-122"/>
                          <a:cs typeface="Inter" pitchFamily="34" charset="-120"/>
                        </a:rPr>
                        <a:t>2</a:t>
                      </a:r>
                      <a:endParaRPr lang="en-US" sz="1300" dirty="0">
                        <a:latin typeface="Inter" charset="0"/>
                        <a:ea typeface="Inter" charset="0"/>
                        <a:cs typeface="Inter" charset="0"/>
                      </a:endParaRPr>
                    </a:p>
                  </a:txBody>
                  <a:tcPr marL="127000" marR="127000" marT="127000" marB="127000" anchor="t">
                    <a:lnL w="12700" cap="flat" cmpd="sng" algn="ctr">
                      <a:solidFill>
                        <a:srgbClr val="C2C4C5"/>
                      </a:solidFill>
                      <a:prstDash val="solid"/>
                      <a:round/>
                      <a:headEnd type="none" w="med" len="med"/>
                      <a:tailEnd type="none" w="med" len="med"/>
                    </a:lnL>
                    <a:lnR w="12700" cap="flat" cmpd="sng" algn="ctr">
                      <a:solidFill>
                        <a:srgbClr val="C2C4C5"/>
                      </a:solidFill>
                      <a:prstDash val="solid"/>
                      <a:round/>
                      <a:headEnd type="none" w="med" len="med"/>
                      <a:tailEnd type="none" w="med" len="med"/>
                    </a:lnR>
                    <a:lnT w="12700" cap="flat" cmpd="sng" algn="ctr">
                      <a:solidFill>
                        <a:srgbClr val="C2C4C5"/>
                      </a:solidFill>
                      <a:prstDash val="solid"/>
                      <a:round/>
                      <a:headEnd type="none" w="med" len="med"/>
                      <a:tailEnd type="none" w="med" len="med"/>
                    </a:lnT>
                    <a:lnB w="12700" cap="flat" cmpd="sng" algn="ctr">
                      <a:solidFill>
                        <a:srgbClr val="C2C4C5"/>
                      </a:solidFill>
                      <a:prstDash val="solid"/>
                      <a:round/>
                      <a:headEnd type="none" w="med" len="med"/>
                      <a:tailEnd type="none" w="med" len="med"/>
                    </a:lnB>
                  </a:tcPr>
                </a:tc>
                <a:tc>
                  <a:txBody>
                    <a:bodyPr/>
                    <a:lstStyle/>
                    <a:p>
                      <a:pPr indent="0" marL="0">
                        <a:lnSpc>
                          <a:spcPts val="1820"/>
                        </a:lnSpc>
                        <a:buNone/>
                      </a:pPr>
                      <a:r>
                        <a:rPr lang="en-US" sz="1300" dirty="0">
                          <a:solidFill>
                            <a:srgbClr val="14202E"/>
                          </a:solidFill>
                          <a:latin typeface="Inter" pitchFamily="34" charset="0"/>
                          <a:ea typeface="Inter" pitchFamily="34" charset="-122"/>
                          <a:cs typeface="Inter" pitchFamily="34" charset="-120"/>
                        </a:rPr>
                        <a:t>Cheating Detection Using Improved YOLOv8 with Attention (2024)</a:t>
                      </a:r>
                      <a:endParaRPr lang="en-US" sz="1300" dirty="0">
                        <a:latin typeface="Inter" charset="0"/>
                        <a:ea typeface="Inter" charset="0"/>
                        <a:cs typeface="Inter" charset="0"/>
                      </a:endParaRPr>
                    </a:p>
                  </a:txBody>
                  <a:tcPr marL="127000" marR="127000" marT="127000" marB="127000" anchor="t">
                    <a:lnL w="12700" cap="flat" cmpd="sng" algn="ctr">
                      <a:solidFill>
                        <a:srgbClr val="C2C4C5"/>
                      </a:solidFill>
                      <a:prstDash val="solid"/>
                      <a:round/>
                      <a:headEnd type="none" w="med" len="med"/>
                      <a:tailEnd type="none" w="med" len="med"/>
                    </a:lnL>
                    <a:lnR w="12700" cap="flat" cmpd="sng" algn="ctr">
                      <a:solidFill>
                        <a:srgbClr val="C2C4C5"/>
                      </a:solidFill>
                      <a:prstDash val="solid"/>
                      <a:round/>
                      <a:headEnd type="none" w="med" len="med"/>
                      <a:tailEnd type="none" w="med" len="med"/>
                    </a:lnR>
                    <a:lnT w="12700" cap="flat" cmpd="sng" algn="ctr">
                      <a:solidFill>
                        <a:srgbClr val="C2C4C5"/>
                      </a:solidFill>
                      <a:prstDash val="solid"/>
                      <a:round/>
                      <a:headEnd type="none" w="med" len="med"/>
                      <a:tailEnd type="none" w="med" len="med"/>
                    </a:lnT>
                    <a:lnB w="12700" cap="flat" cmpd="sng" algn="ctr">
                      <a:solidFill>
                        <a:srgbClr val="C2C4C5"/>
                      </a:solidFill>
                      <a:prstDash val="solid"/>
                      <a:round/>
                      <a:headEnd type="none" w="med" len="med"/>
                      <a:tailEnd type="none" w="med" len="med"/>
                    </a:lnB>
                  </a:tcPr>
                </a:tc>
                <a:tc>
                  <a:txBody>
                    <a:bodyPr/>
                    <a:lstStyle/>
                    <a:p>
                      <a:pPr indent="0" marL="0">
                        <a:lnSpc>
                          <a:spcPts val="1820"/>
                        </a:lnSpc>
                        <a:buNone/>
                      </a:pPr>
                      <a:r>
                        <a:rPr lang="en-US" sz="1300" dirty="0">
                          <a:solidFill>
                            <a:srgbClr val="14202E"/>
                          </a:solidFill>
                          <a:latin typeface="Inter" pitchFamily="34" charset="0"/>
                          <a:ea typeface="Inter" pitchFamily="34" charset="-122"/>
                          <a:cs typeface="Inter" pitchFamily="34" charset="-120"/>
                        </a:rPr>
                        <a:t>YOLOv8 + attention, single camera</a:t>
                      </a:r>
                      <a:endParaRPr lang="en-US" sz="1300" dirty="0">
                        <a:latin typeface="Inter" charset="0"/>
                        <a:ea typeface="Inter" charset="0"/>
                        <a:cs typeface="Inter" charset="0"/>
                      </a:endParaRPr>
                    </a:p>
                  </a:txBody>
                  <a:tcPr marL="127000" marR="127000" marT="127000" marB="127000" anchor="t">
                    <a:lnL w="12700" cap="flat" cmpd="sng" algn="ctr">
                      <a:solidFill>
                        <a:srgbClr val="C2C4C5"/>
                      </a:solidFill>
                      <a:prstDash val="solid"/>
                      <a:round/>
                      <a:headEnd type="none" w="med" len="med"/>
                      <a:tailEnd type="none" w="med" len="med"/>
                    </a:lnL>
                    <a:lnR w="12700" cap="flat" cmpd="sng" algn="ctr">
                      <a:solidFill>
                        <a:srgbClr val="C2C4C5"/>
                      </a:solidFill>
                      <a:prstDash val="solid"/>
                      <a:round/>
                      <a:headEnd type="none" w="med" len="med"/>
                      <a:tailEnd type="none" w="med" len="med"/>
                    </a:lnR>
                    <a:lnT w="12700" cap="flat" cmpd="sng" algn="ctr">
                      <a:solidFill>
                        <a:srgbClr val="C2C4C5"/>
                      </a:solidFill>
                      <a:prstDash val="solid"/>
                      <a:round/>
                      <a:headEnd type="none" w="med" len="med"/>
                      <a:tailEnd type="none" w="med" len="med"/>
                    </a:lnT>
                    <a:lnB w="12700" cap="flat" cmpd="sng" algn="ctr">
                      <a:solidFill>
                        <a:srgbClr val="C2C4C5"/>
                      </a:solidFill>
                      <a:prstDash val="solid"/>
                      <a:round/>
                      <a:headEnd type="none" w="med" len="med"/>
                      <a:tailEnd type="none" w="med" len="med"/>
                    </a:lnB>
                  </a:tcPr>
                </a:tc>
                <a:tc>
                  <a:txBody>
                    <a:bodyPr/>
                    <a:lstStyle/>
                    <a:p>
                      <a:pPr indent="0" marL="0">
                        <a:lnSpc>
                          <a:spcPts val="1820"/>
                        </a:lnSpc>
                        <a:buNone/>
                      </a:pPr>
                      <a:r>
                        <a:rPr lang="en-US" sz="1300" dirty="0">
                          <a:solidFill>
                            <a:srgbClr val="14202E"/>
                          </a:solidFill>
                          <a:latin typeface="Inter" pitchFamily="34" charset="0"/>
                          <a:ea typeface="Inter" pitchFamily="34" charset="-122"/>
                          <a:cs typeface="Inter" pitchFamily="34" charset="-120"/>
                        </a:rPr>
                        <a:t>82.71% detection accuracy</a:t>
                      </a:r>
                      <a:endParaRPr lang="en-US" sz="1300" dirty="0">
                        <a:latin typeface="Inter" charset="0"/>
                        <a:ea typeface="Inter" charset="0"/>
                        <a:cs typeface="Inter" charset="0"/>
                      </a:endParaRPr>
                    </a:p>
                  </a:txBody>
                  <a:tcPr marL="127000" marR="127000" marT="127000" marB="127000" anchor="t">
                    <a:lnL w="12700" cap="flat" cmpd="sng" algn="ctr">
                      <a:solidFill>
                        <a:srgbClr val="C2C4C5"/>
                      </a:solidFill>
                      <a:prstDash val="solid"/>
                      <a:round/>
                      <a:headEnd type="none" w="med" len="med"/>
                      <a:tailEnd type="none" w="med" len="med"/>
                    </a:lnL>
                    <a:lnR w="12700" cap="flat" cmpd="sng" algn="ctr">
                      <a:solidFill>
                        <a:srgbClr val="C2C4C5"/>
                      </a:solidFill>
                      <a:prstDash val="solid"/>
                      <a:round/>
                      <a:headEnd type="none" w="med" len="med"/>
                      <a:tailEnd type="none" w="med" len="med"/>
                    </a:lnR>
                    <a:lnT w="12700" cap="flat" cmpd="sng" algn="ctr">
                      <a:solidFill>
                        <a:srgbClr val="C2C4C5"/>
                      </a:solidFill>
                      <a:prstDash val="solid"/>
                      <a:round/>
                      <a:headEnd type="none" w="med" len="med"/>
                      <a:tailEnd type="none" w="med" len="med"/>
                    </a:lnT>
                    <a:lnB w="12700" cap="flat" cmpd="sng" algn="ctr">
                      <a:solidFill>
                        <a:srgbClr val="C2C4C5"/>
                      </a:solidFill>
                      <a:prstDash val="solid"/>
                      <a:round/>
                      <a:headEnd type="none" w="med" len="med"/>
                      <a:tailEnd type="none" w="med" len="med"/>
                    </a:lnB>
                  </a:tcPr>
                </a:tc>
              </a:tr>
              <a:tr h="959941">
                <a:tc>
                  <a:txBody>
                    <a:bodyPr/>
                    <a:lstStyle/>
                    <a:p>
                      <a:pPr indent="0" marL="0">
                        <a:lnSpc>
                          <a:spcPts val="1820"/>
                        </a:lnSpc>
                        <a:buNone/>
                      </a:pPr>
                      <a:r>
                        <a:rPr lang="en-US" sz="1300" dirty="0">
                          <a:solidFill>
                            <a:srgbClr val="14202E"/>
                          </a:solidFill>
                          <a:latin typeface="Inter" pitchFamily="34" charset="0"/>
                          <a:ea typeface="Inter" pitchFamily="34" charset="-122"/>
                          <a:cs typeface="Inter" pitchFamily="34" charset="-120"/>
                        </a:rPr>
                        <a:t>3</a:t>
                      </a:r>
                      <a:endParaRPr lang="en-US" sz="1300" dirty="0">
                        <a:latin typeface="Inter" charset="0"/>
                        <a:ea typeface="Inter" charset="0"/>
                        <a:cs typeface="Inter" charset="0"/>
                      </a:endParaRPr>
                    </a:p>
                  </a:txBody>
                  <a:tcPr marL="127000" marR="127000" marT="127000" marB="127000" anchor="t">
                    <a:lnL w="12700" cap="flat" cmpd="sng" algn="ctr">
                      <a:solidFill>
                        <a:srgbClr val="C2C4C5"/>
                      </a:solidFill>
                      <a:prstDash val="solid"/>
                      <a:round/>
                      <a:headEnd type="none" w="med" len="med"/>
                      <a:tailEnd type="none" w="med" len="med"/>
                    </a:lnL>
                    <a:lnR w="12700" cap="flat" cmpd="sng" algn="ctr">
                      <a:solidFill>
                        <a:srgbClr val="C2C4C5"/>
                      </a:solidFill>
                      <a:prstDash val="solid"/>
                      <a:round/>
                      <a:headEnd type="none" w="med" len="med"/>
                      <a:tailEnd type="none" w="med" len="med"/>
                    </a:lnR>
                    <a:lnT w="12700" cap="flat" cmpd="sng" algn="ctr">
                      <a:solidFill>
                        <a:srgbClr val="C2C4C5"/>
                      </a:solidFill>
                      <a:prstDash val="solid"/>
                      <a:round/>
                      <a:headEnd type="none" w="med" len="med"/>
                      <a:tailEnd type="none" w="med" len="med"/>
                    </a:lnT>
                    <a:lnB w="12700" cap="flat" cmpd="sng" algn="ctr">
                      <a:solidFill>
                        <a:srgbClr val="C2C4C5"/>
                      </a:solidFill>
                      <a:prstDash val="solid"/>
                      <a:round/>
                      <a:headEnd type="none" w="med" len="med"/>
                      <a:tailEnd type="none" w="med" len="med"/>
                    </a:lnB>
                  </a:tcPr>
                </a:tc>
                <a:tc>
                  <a:txBody>
                    <a:bodyPr/>
                    <a:lstStyle/>
                    <a:p>
                      <a:pPr indent="0" marL="0">
                        <a:lnSpc>
                          <a:spcPts val="1820"/>
                        </a:lnSpc>
                        <a:buNone/>
                      </a:pPr>
                      <a:r>
                        <a:rPr lang="en-US" sz="1300" dirty="0">
                          <a:solidFill>
                            <a:srgbClr val="14202E"/>
                          </a:solidFill>
                          <a:latin typeface="Inter" pitchFamily="34" charset="0"/>
                          <a:ea typeface="Inter" pitchFamily="34" charset="-122"/>
                          <a:cs typeface="Inter" pitchFamily="34" charset="-120"/>
                        </a:rPr>
                        <a:t>Exam Cheating Detection Using Action Recognition with Vision Transformer (2024)</a:t>
                      </a:r>
                      <a:endParaRPr lang="en-US" sz="1300" dirty="0">
                        <a:latin typeface="Inter" charset="0"/>
                        <a:ea typeface="Inter" charset="0"/>
                        <a:cs typeface="Inter" charset="0"/>
                      </a:endParaRPr>
                    </a:p>
                  </a:txBody>
                  <a:tcPr marL="127000" marR="127000" marT="127000" marB="127000" anchor="t">
                    <a:lnL w="12700" cap="flat" cmpd="sng" algn="ctr">
                      <a:solidFill>
                        <a:srgbClr val="C2C4C5"/>
                      </a:solidFill>
                      <a:prstDash val="solid"/>
                      <a:round/>
                      <a:headEnd type="none" w="med" len="med"/>
                      <a:tailEnd type="none" w="med" len="med"/>
                    </a:lnL>
                    <a:lnR w="12700" cap="flat" cmpd="sng" algn="ctr">
                      <a:solidFill>
                        <a:srgbClr val="C2C4C5"/>
                      </a:solidFill>
                      <a:prstDash val="solid"/>
                      <a:round/>
                      <a:headEnd type="none" w="med" len="med"/>
                      <a:tailEnd type="none" w="med" len="med"/>
                    </a:lnR>
                    <a:lnT w="12700" cap="flat" cmpd="sng" algn="ctr">
                      <a:solidFill>
                        <a:srgbClr val="C2C4C5"/>
                      </a:solidFill>
                      <a:prstDash val="solid"/>
                      <a:round/>
                      <a:headEnd type="none" w="med" len="med"/>
                      <a:tailEnd type="none" w="med" len="med"/>
                    </a:lnT>
                    <a:lnB w="12700" cap="flat" cmpd="sng" algn="ctr">
                      <a:solidFill>
                        <a:srgbClr val="C2C4C5"/>
                      </a:solidFill>
                      <a:prstDash val="solid"/>
                      <a:round/>
                      <a:headEnd type="none" w="med" len="med"/>
                      <a:tailEnd type="none" w="med" len="med"/>
                    </a:lnB>
                  </a:tcPr>
                </a:tc>
                <a:tc>
                  <a:txBody>
                    <a:bodyPr/>
                    <a:lstStyle/>
                    <a:p>
                      <a:pPr indent="0" marL="0">
                        <a:lnSpc>
                          <a:spcPts val="1820"/>
                        </a:lnSpc>
                        <a:buNone/>
                      </a:pPr>
                      <a:r>
                        <a:rPr lang="en-US" sz="1300" dirty="0">
                          <a:solidFill>
                            <a:srgbClr val="14202E"/>
                          </a:solidFill>
                          <a:latin typeface="Inter" pitchFamily="34" charset="0"/>
                          <a:ea typeface="Inter" pitchFamily="34" charset="-122"/>
                          <a:cs typeface="Inter" pitchFamily="34" charset="-120"/>
                        </a:rPr>
                        <a:t>LSTM, VGG-19, Faster/Mask R-CNN, ViT</a:t>
                      </a:r>
                      <a:endParaRPr lang="en-US" sz="1300" dirty="0">
                        <a:latin typeface="Inter" charset="0"/>
                        <a:ea typeface="Inter" charset="0"/>
                        <a:cs typeface="Inter" charset="0"/>
                      </a:endParaRPr>
                    </a:p>
                  </a:txBody>
                  <a:tcPr marL="127000" marR="127000" marT="127000" marB="127000" anchor="t">
                    <a:lnL w="12700" cap="flat" cmpd="sng" algn="ctr">
                      <a:solidFill>
                        <a:srgbClr val="C2C4C5"/>
                      </a:solidFill>
                      <a:prstDash val="solid"/>
                      <a:round/>
                      <a:headEnd type="none" w="med" len="med"/>
                      <a:tailEnd type="none" w="med" len="med"/>
                    </a:lnL>
                    <a:lnR w="12700" cap="flat" cmpd="sng" algn="ctr">
                      <a:solidFill>
                        <a:srgbClr val="C2C4C5"/>
                      </a:solidFill>
                      <a:prstDash val="solid"/>
                      <a:round/>
                      <a:headEnd type="none" w="med" len="med"/>
                      <a:tailEnd type="none" w="med" len="med"/>
                    </a:lnR>
                    <a:lnT w="12700" cap="flat" cmpd="sng" algn="ctr">
                      <a:solidFill>
                        <a:srgbClr val="C2C4C5"/>
                      </a:solidFill>
                      <a:prstDash val="solid"/>
                      <a:round/>
                      <a:headEnd type="none" w="med" len="med"/>
                      <a:tailEnd type="none" w="med" len="med"/>
                    </a:lnT>
                    <a:lnB w="12700" cap="flat" cmpd="sng" algn="ctr">
                      <a:solidFill>
                        <a:srgbClr val="C2C4C5"/>
                      </a:solidFill>
                      <a:prstDash val="solid"/>
                      <a:round/>
                      <a:headEnd type="none" w="med" len="med"/>
                      <a:tailEnd type="none" w="med" len="med"/>
                    </a:lnB>
                  </a:tcPr>
                </a:tc>
                <a:tc>
                  <a:txBody>
                    <a:bodyPr/>
                    <a:lstStyle/>
                    <a:p>
                      <a:pPr indent="0" marL="0">
                        <a:lnSpc>
                          <a:spcPts val="1820"/>
                        </a:lnSpc>
                        <a:buNone/>
                      </a:pPr>
                      <a:r>
                        <a:rPr lang="en-US" sz="1300" dirty="0">
                          <a:solidFill>
                            <a:srgbClr val="14202E"/>
                          </a:solidFill>
                          <a:latin typeface="Inter" pitchFamily="34" charset="0"/>
                          <a:ea typeface="Inter" pitchFamily="34" charset="-122"/>
                          <a:cs typeface="Inter" pitchFamily="34" charset="-120"/>
                        </a:rPr>
                        <a:t>Above 98% action-recognition accuracy</a:t>
                      </a:r>
                      <a:endParaRPr lang="en-US" sz="1300" dirty="0">
                        <a:latin typeface="Inter" charset="0"/>
                        <a:ea typeface="Inter" charset="0"/>
                        <a:cs typeface="Inter" charset="0"/>
                      </a:endParaRPr>
                    </a:p>
                  </a:txBody>
                  <a:tcPr marL="127000" marR="127000" marT="127000" marB="127000" anchor="t">
                    <a:lnL w="12700" cap="flat" cmpd="sng" algn="ctr">
                      <a:solidFill>
                        <a:srgbClr val="C2C4C5"/>
                      </a:solidFill>
                      <a:prstDash val="solid"/>
                      <a:round/>
                      <a:headEnd type="none" w="med" len="med"/>
                      <a:tailEnd type="none" w="med" len="med"/>
                    </a:lnL>
                    <a:lnR w="12700" cap="flat" cmpd="sng" algn="ctr">
                      <a:solidFill>
                        <a:srgbClr val="C2C4C5"/>
                      </a:solidFill>
                      <a:prstDash val="solid"/>
                      <a:round/>
                      <a:headEnd type="none" w="med" len="med"/>
                      <a:tailEnd type="none" w="med" len="med"/>
                    </a:lnR>
                    <a:lnT w="12700" cap="flat" cmpd="sng" algn="ctr">
                      <a:solidFill>
                        <a:srgbClr val="C2C4C5"/>
                      </a:solidFill>
                      <a:prstDash val="solid"/>
                      <a:round/>
                      <a:headEnd type="none" w="med" len="med"/>
                      <a:tailEnd type="none" w="med" len="med"/>
                    </a:lnT>
                    <a:lnB w="12700" cap="flat" cmpd="sng" algn="ctr">
                      <a:solidFill>
                        <a:srgbClr val="C2C4C5"/>
                      </a:solidFill>
                      <a:prstDash val="solid"/>
                      <a:round/>
                      <a:headEnd type="none" w="med" len="med"/>
                      <a:tailEnd type="none" w="med" len="med"/>
                    </a:lnB>
                  </a:tcPr>
                </a:tc>
              </a:tr>
            </a:tbl>
          </a:graphicData>
        </a:graphic>
      </p:graphicFrame>
      <p:sp>
        <p:nvSpPr>
          <p:cNvPr id="4" name="Text 1"/>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6"/>
                </a:solidFill>
                <a:latin typeface="Inter" pitchFamily="34" charset="0"/>
                <a:ea typeface="Inter" pitchFamily="34" charset="-122"/>
                <a:cs typeface="Inter" pitchFamily="34" charset="-120"/>
              </a:rPr>
              <a:t>Smart Surveillance System · Major Project Phase-1 · Review-2</a:t>
            </a:r>
            <a:endParaRPr lang="en-US" sz="1200" dirty="0"/>
          </a:p>
        </p:txBody>
      </p:sp>
      <p:sp>
        <p:nvSpPr>
          <p:cNvPr id="5" name="Text 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6"/>
                </a:solidFill>
                <a:latin typeface="Inter" pitchFamily="34" charset="0"/>
                <a:ea typeface="Inter" pitchFamily="34" charset="-122"/>
                <a:cs typeface="Inter"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5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7C86"/>
                </a:solidFill>
                <a:latin typeface="Inter" pitchFamily="34" charset="0"/>
                <a:ea typeface="Inter" pitchFamily="34" charset="-122"/>
                <a:cs typeface="Inter" pitchFamily="34" charset="-120"/>
              </a:rPr>
              <a:t>Literature Survey (2/2)</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77280"/>
          <a:ext cx="10553700" cy="3146524"/>
        </p:xfrm>
        <a:graphic>
          <a:graphicData uri="http://schemas.openxmlformats.org/drawingml/2006/table">
            <a:tbl>
              <a:tblPr/>
              <a:tblGrid>
                <a:gridCol w="2638425"/>
                <a:gridCol w="2638425"/>
                <a:gridCol w="2638425"/>
                <a:gridCol w="2638425"/>
              </a:tblGrid>
              <a:tr h="497780">
                <a:tc>
                  <a:txBody>
                    <a:bodyPr/>
                    <a:lstStyle/>
                    <a:p>
                      <a:pPr indent="0" marL="0">
                        <a:lnSpc>
                          <a:spcPts val="1820"/>
                        </a:lnSpc>
                        <a:buNone/>
                      </a:pPr>
                      <a:r>
                        <a:rPr lang="en-US" sz="1300" b="1" dirty="0">
                          <a:solidFill>
                            <a:srgbClr val="FFFFFF"/>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127000" marR="127000" marT="127000" marB="127000" anchor="t">
                    <a:lnL w="12700" cap="flat" cmpd="sng" algn="ctr">
                      <a:solidFill>
                        <a:srgbClr val="C2C4C5"/>
                      </a:solidFill>
                      <a:prstDash val="solid"/>
                      <a:round/>
                      <a:headEnd type="none" w="med" len="med"/>
                      <a:tailEnd type="none" w="med" len="med"/>
                    </a:lnL>
                    <a:lnR w="12700" cap="flat" cmpd="sng" algn="ctr">
                      <a:solidFill>
                        <a:srgbClr val="0F656D"/>
                      </a:solidFill>
                      <a:prstDash val="solid"/>
                      <a:round/>
                      <a:headEnd type="none" w="med" len="med"/>
                      <a:tailEnd type="none" w="med" len="med"/>
                    </a:lnR>
                    <a:lnT w="12700" cap="flat" cmpd="sng" algn="ctr">
                      <a:solidFill>
                        <a:srgbClr val="C2C4C5"/>
                      </a:solidFill>
                      <a:prstDash val="solid"/>
                      <a:round/>
                      <a:headEnd type="none" w="med" len="med"/>
                      <a:tailEnd type="none" w="med" len="med"/>
                    </a:lnT>
                    <a:lnB w="12700" cap="flat" cmpd="sng" algn="ctr">
                      <a:solidFill>
                        <a:srgbClr val="0F656D"/>
                      </a:solidFill>
                      <a:prstDash val="solid"/>
                      <a:round/>
                      <a:headEnd type="none" w="med" len="med"/>
                      <a:tailEnd type="none" w="med" len="med"/>
                    </a:lnB>
                    <a:solidFill>
                      <a:srgbClr val="0E7C86"/>
                    </a:solidFill>
                  </a:tcPr>
                </a:tc>
                <a:tc>
                  <a:txBody>
                    <a:bodyPr/>
                    <a:lstStyle/>
                    <a:p>
                      <a:pPr indent="0" marL="0">
                        <a:lnSpc>
                          <a:spcPts val="1820"/>
                        </a:lnSpc>
                        <a:buNone/>
                      </a:pPr>
                      <a:r>
                        <a:rPr lang="en-US" sz="1300" b="1" dirty="0">
                          <a:solidFill>
                            <a:srgbClr val="FFFFFF"/>
                          </a:solidFill>
                          <a:latin typeface="Inter" pitchFamily="34" charset="0"/>
                          <a:ea typeface="Inter" pitchFamily="34" charset="-122"/>
                          <a:cs typeface="Inter" pitchFamily="34" charset="-120"/>
                        </a:rPr>
                        <a:t>Paper (Year)</a:t>
                      </a:r>
                      <a:endParaRPr lang="en-US" sz="1300" dirty="0">
                        <a:latin typeface="Inter" charset="0"/>
                        <a:ea typeface="Inter" charset="0"/>
                        <a:cs typeface="Inter" charset="0"/>
                      </a:endParaRPr>
                    </a:p>
                  </a:txBody>
                  <a:tcPr marL="127000" marR="127000" marT="127000" marB="127000" anchor="t">
                    <a:lnL w="12700" cap="flat" cmpd="sng" algn="ctr">
                      <a:solidFill>
                        <a:srgbClr val="0F656D"/>
                      </a:solidFill>
                      <a:prstDash val="solid"/>
                      <a:round/>
                      <a:headEnd type="none" w="med" len="med"/>
                      <a:tailEnd type="none" w="med" len="med"/>
                    </a:lnL>
                    <a:lnR w="12700" cap="flat" cmpd="sng" algn="ctr">
                      <a:solidFill>
                        <a:srgbClr val="0F656D"/>
                      </a:solidFill>
                      <a:prstDash val="solid"/>
                      <a:round/>
                      <a:headEnd type="none" w="med" len="med"/>
                      <a:tailEnd type="none" w="med" len="med"/>
                    </a:lnR>
                    <a:lnT w="12700" cap="flat" cmpd="sng" algn="ctr">
                      <a:solidFill>
                        <a:srgbClr val="C2C4C5"/>
                      </a:solidFill>
                      <a:prstDash val="solid"/>
                      <a:round/>
                      <a:headEnd type="none" w="med" len="med"/>
                      <a:tailEnd type="none" w="med" len="med"/>
                    </a:lnT>
                    <a:lnB w="12700" cap="flat" cmpd="sng" algn="ctr">
                      <a:solidFill>
                        <a:srgbClr val="0F656D"/>
                      </a:solidFill>
                      <a:prstDash val="solid"/>
                      <a:round/>
                      <a:headEnd type="none" w="med" len="med"/>
                      <a:tailEnd type="none" w="med" len="med"/>
                    </a:lnB>
                    <a:solidFill>
                      <a:srgbClr val="0E7C86"/>
                    </a:solidFill>
                  </a:tcPr>
                </a:tc>
                <a:tc>
                  <a:txBody>
                    <a:bodyPr/>
                    <a:lstStyle/>
                    <a:p>
                      <a:pPr indent="0" marL="0">
                        <a:lnSpc>
                          <a:spcPts val="1820"/>
                        </a:lnSpc>
                        <a:buNone/>
                      </a:pPr>
                      <a:r>
                        <a:rPr lang="en-US" sz="1300" b="1" dirty="0">
                          <a:solidFill>
                            <a:srgbClr val="FFFFFF"/>
                          </a:solidFill>
                          <a:latin typeface="Inter" pitchFamily="34" charset="0"/>
                          <a:ea typeface="Inter" pitchFamily="34" charset="-122"/>
                          <a:cs typeface="Inter" pitchFamily="34" charset="-120"/>
                        </a:rPr>
                        <a:t>Method</a:t>
                      </a:r>
                      <a:endParaRPr lang="en-US" sz="1300" dirty="0">
                        <a:latin typeface="Inter" charset="0"/>
                        <a:ea typeface="Inter" charset="0"/>
                        <a:cs typeface="Inter" charset="0"/>
                      </a:endParaRPr>
                    </a:p>
                  </a:txBody>
                  <a:tcPr marL="127000" marR="127000" marT="127000" marB="127000" anchor="t">
                    <a:lnL w="12700" cap="flat" cmpd="sng" algn="ctr">
                      <a:solidFill>
                        <a:srgbClr val="0F656D"/>
                      </a:solidFill>
                      <a:prstDash val="solid"/>
                      <a:round/>
                      <a:headEnd type="none" w="med" len="med"/>
                      <a:tailEnd type="none" w="med" len="med"/>
                    </a:lnL>
                    <a:lnR w="12700" cap="flat" cmpd="sng" algn="ctr">
                      <a:solidFill>
                        <a:srgbClr val="0F656D"/>
                      </a:solidFill>
                      <a:prstDash val="solid"/>
                      <a:round/>
                      <a:headEnd type="none" w="med" len="med"/>
                      <a:tailEnd type="none" w="med" len="med"/>
                    </a:lnR>
                    <a:lnT w="12700" cap="flat" cmpd="sng" algn="ctr">
                      <a:solidFill>
                        <a:srgbClr val="C2C4C5"/>
                      </a:solidFill>
                      <a:prstDash val="solid"/>
                      <a:round/>
                      <a:headEnd type="none" w="med" len="med"/>
                      <a:tailEnd type="none" w="med" len="med"/>
                    </a:lnT>
                    <a:lnB w="12700" cap="flat" cmpd="sng" algn="ctr">
                      <a:solidFill>
                        <a:srgbClr val="0F656D"/>
                      </a:solidFill>
                      <a:prstDash val="solid"/>
                      <a:round/>
                      <a:headEnd type="none" w="med" len="med"/>
                      <a:tailEnd type="none" w="med" len="med"/>
                    </a:lnB>
                    <a:solidFill>
                      <a:srgbClr val="0E7C86"/>
                    </a:solidFill>
                  </a:tcPr>
                </a:tc>
                <a:tc>
                  <a:txBody>
                    <a:bodyPr/>
                    <a:lstStyle/>
                    <a:p>
                      <a:pPr indent="0" marL="0">
                        <a:lnSpc>
                          <a:spcPts val="1820"/>
                        </a:lnSpc>
                        <a:buNone/>
                      </a:pPr>
                      <a:r>
                        <a:rPr lang="en-US" sz="1300" b="1" dirty="0">
                          <a:solidFill>
                            <a:srgbClr val="FFFFFF"/>
                          </a:solidFill>
                          <a:latin typeface="Inter" pitchFamily="34" charset="0"/>
                          <a:ea typeface="Inter" pitchFamily="34" charset="-122"/>
                          <a:cs typeface="Inter" pitchFamily="34" charset="-120"/>
                        </a:rPr>
                        <a:t>Key Result</a:t>
                      </a:r>
                      <a:endParaRPr lang="en-US" sz="1300" dirty="0">
                        <a:latin typeface="Inter" charset="0"/>
                        <a:ea typeface="Inter" charset="0"/>
                        <a:cs typeface="Inter" charset="0"/>
                      </a:endParaRPr>
                    </a:p>
                  </a:txBody>
                  <a:tcPr marL="127000" marR="127000" marT="127000" marB="127000" anchor="t">
                    <a:lnL w="12700" cap="flat" cmpd="sng" algn="ctr">
                      <a:solidFill>
                        <a:srgbClr val="0F656D"/>
                      </a:solidFill>
                      <a:prstDash val="solid"/>
                      <a:round/>
                      <a:headEnd type="none" w="med" len="med"/>
                      <a:tailEnd type="none" w="med" len="med"/>
                    </a:lnL>
                    <a:lnR w="12700" cap="flat" cmpd="sng" algn="ctr">
                      <a:solidFill>
                        <a:srgbClr val="0F656D"/>
                      </a:solidFill>
                      <a:prstDash val="solid"/>
                      <a:round/>
                      <a:headEnd type="none" w="med" len="med"/>
                      <a:tailEnd type="none" w="med" len="med"/>
                    </a:lnR>
                    <a:lnT w="12700" cap="flat" cmpd="sng" algn="ctr">
                      <a:solidFill>
                        <a:srgbClr val="C2C4C5"/>
                      </a:solidFill>
                      <a:prstDash val="solid"/>
                      <a:round/>
                      <a:headEnd type="none" w="med" len="med"/>
                      <a:tailEnd type="none" w="med" len="med"/>
                    </a:lnT>
                    <a:lnB w="12700" cap="flat" cmpd="sng" algn="ctr">
                      <a:solidFill>
                        <a:srgbClr val="0F656D"/>
                      </a:solidFill>
                      <a:prstDash val="solid"/>
                      <a:round/>
                      <a:headEnd type="none" w="med" len="med"/>
                      <a:tailEnd type="none" w="med" len="med"/>
                    </a:lnB>
                    <a:solidFill>
                      <a:srgbClr val="0E7C86"/>
                    </a:solidFill>
                  </a:tcPr>
                </a:tc>
              </a:tr>
              <a:tr h="959941">
                <a:tc>
                  <a:txBody>
                    <a:bodyPr/>
                    <a:lstStyle/>
                    <a:p>
                      <a:pPr indent="0" marL="0">
                        <a:lnSpc>
                          <a:spcPts val="1820"/>
                        </a:lnSpc>
                        <a:buNone/>
                      </a:pPr>
                      <a:r>
                        <a:rPr lang="en-US" sz="1300" dirty="0">
                          <a:solidFill>
                            <a:srgbClr val="14202E"/>
                          </a:solidFill>
                          <a:latin typeface="Inter" pitchFamily="34" charset="0"/>
                          <a:ea typeface="Inter" pitchFamily="34" charset="-122"/>
                          <a:cs typeface="Inter" pitchFamily="34" charset="-120"/>
                        </a:rPr>
                        <a:t>4</a:t>
                      </a:r>
                      <a:endParaRPr lang="en-US" sz="1300" dirty="0">
                        <a:latin typeface="Inter" charset="0"/>
                        <a:ea typeface="Inter" charset="0"/>
                        <a:cs typeface="Inter" charset="0"/>
                      </a:endParaRPr>
                    </a:p>
                  </a:txBody>
                  <a:tcPr marL="127000" marR="127000" marT="127000" marB="127000" anchor="t">
                    <a:lnL w="12700" cap="flat" cmpd="sng" algn="ctr">
                      <a:solidFill>
                        <a:srgbClr val="C2C4C5"/>
                      </a:solidFill>
                      <a:prstDash val="solid"/>
                      <a:round/>
                      <a:headEnd type="none" w="med" len="med"/>
                      <a:tailEnd type="none" w="med" len="med"/>
                    </a:lnL>
                    <a:lnR w="12700" cap="flat" cmpd="sng" algn="ctr">
                      <a:solidFill>
                        <a:srgbClr val="C2C4C5"/>
                      </a:solidFill>
                      <a:prstDash val="solid"/>
                      <a:round/>
                      <a:headEnd type="none" w="med" len="med"/>
                      <a:tailEnd type="none" w="med" len="med"/>
                    </a:lnR>
                    <a:lnT w="12700" cap="flat" cmpd="sng" algn="ctr">
                      <a:solidFill>
                        <a:srgbClr val="0F656D"/>
                      </a:solidFill>
                      <a:prstDash val="solid"/>
                      <a:round/>
                      <a:headEnd type="none" w="med" len="med"/>
                      <a:tailEnd type="none" w="med" len="med"/>
                    </a:lnT>
                    <a:lnB w="12700" cap="flat" cmpd="sng" algn="ctr">
                      <a:solidFill>
                        <a:srgbClr val="C2C4C5"/>
                      </a:solidFill>
                      <a:prstDash val="solid"/>
                      <a:round/>
                      <a:headEnd type="none" w="med" len="med"/>
                      <a:tailEnd type="none" w="med" len="med"/>
                    </a:lnB>
                  </a:tcPr>
                </a:tc>
                <a:tc>
                  <a:txBody>
                    <a:bodyPr/>
                    <a:lstStyle/>
                    <a:p>
                      <a:pPr indent="0" marL="0">
                        <a:lnSpc>
                          <a:spcPts val="1820"/>
                        </a:lnSpc>
                        <a:buNone/>
                      </a:pPr>
                      <a:r>
                        <a:rPr lang="en-US" sz="1300" dirty="0">
                          <a:solidFill>
                            <a:srgbClr val="14202E"/>
                          </a:solidFill>
                          <a:latin typeface="Inter" pitchFamily="34" charset="0"/>
                          <a:ea typeface="Inter" pitchFamily="34" charset="-122"/>
                          <a:cs typeface="Inter" pitchFamily="34" charset="-120"/>
                        </a:rPr>
                        <a:t>Exam Cheating Detection Using Roboflow (2025)</a:t>
                      </a:r>
                      <a:endParaRPr lang="en-US" sz="1300" dirty="0">
                        <a:latin typeface="Inter" charset="0"/>
                        <a:ea typeface="Inter" charset="0"/>
                        <a:cs typeface="Inter" charset="0"/>
                      </a:endParaRPr>
                    </a:p>
                  </a:txBody>
                  <a:tcPr marL="127000" marR="127000" marT="127000" marB="127000" anchor="t">
                    <a:lnL w="12700" cap="flat" cmpd="sng" algn="ctr">
                      <a:solidFill>
                        <a:srgbClr val="C2C4C5"/>
                      </a:solidFill>
                      <a:prstDash val="solid"/>
                      <a:round/>
                      <a:headEnd type="none" w="med" len="med"/>
                      <a:tailEnd type="none" w="med" len="med"/>
                    </a:lnL>
                    <a:lnR w="12700" cap="flat" cmpd="sng" algn="ctr">
                      <a:solidFill>
                        <a:srgbClr val="C2C4C5"/>
                      </a:solidFill>
                      <a:prstDash val="solid"/>
                      <a:round/>
                      <a:headEnd type="none" w="med" len="med"/>
                      <a:tailEnd type="none" w="med" len="med"/>
                    </a:lnR>
                    <a:lnT w="12700" cap="flat" cmpd="sng" algn="ctr">
                      <a:solidFill>
                        <a:srgbClr val="0F656D"/>
                      </a:solidFill>
                      <a:prstDash val="solid"/>
                      <a:round/>
                      <a:headEnd type="none" w="med" len="med"/>
                      <a:tailEnd type="none" w="med" len="med"/>
                    </a:lnT>
                    <a:lnB w="12700" cap="flat" cmpd="sng" algn="ctr">
                      <a:solidFill>
                        <a:srgbClr val="C2C4C5"/>
                      </a:solidFill>
                      <a:prstDash val="solid"/>
                      <a:round/>
                      <a:headEnd type="none" w="med" len="med"/>
                      <a:tailEnd type="none" w="med" len="med"/>
                    </a:lnB>
                  </a:tcPr>
                </a:tc>
                <a:tc>
                  <a:txBody>
                    <a:bodyPr/>
                    <a:lstStyle/>
                    <a:p>
                      <a:pPr indent="0" marL="0">
                        <a:lnSpc>
                          <a:spcPts val="1820"/>
                        </a:lnSpc>
                        <a:buNone/>
                      </a:pPr>
                      <a:r>
                        <a:rPr lang="en-US" sz="1300" dirty="0">
                          <a:solidFill>
                            <a:srgbClr val="14202E"/>
                          </a:solidFill>
                          <a:latin typeface="Inter" pitchFamily="34" charset="0"/>
                          <a:ea typeface="Inter" pitchFamily="34" charset="-122"/>
                          <a:cs typeface="Inter" pitchFamily="34" charset="-120"/>
                        </a:rPr>
                        <a:t>YOLOv5 + TensorFlow, Roboflow pipeline</a:t>
                      </a:r>
                      <a:endParaRPr lang="en-US" sz="1300" dirty="0">
                        <a:latin typeface="Inter" charset="0"/>
                        <a:ea typeface="Inter" charset="0"/>
                        <a:cs typeface="Inter" charset="0"/>
                      </a:endParaRPr>
                    </a:p>
                  </a:txBody>
                  <a:tcPr marL="127000" marR="127000" marT="127000" marB="127000" anchor="t">
                    <a:lnL w="12700" cap="flat" cmpd="sng" algn="ctr">
                      <a:solidFill>
                        <a:srgbClr val="C2C4C5"/>
                      </a:solidFill>
                      <a:prstDash val="solid"/>
                      <a:round/>
                      <a:headEnd type="none" w="med" len="med"/>
                      <a:tailEnd type="none" w="med" len="med"/>
                    </a:lnL>
                    <a:lnR w="12700" cap="flat" cmpd="sng" algn="ctr">
                      <a:solidFill>
                        <a:srgbClr val="C2C4C5"/>
                      </a:solidFill>
                      <a:prstDash val="solid"/>
                      <a:round/>
                      <a:headEnd type="none" w="med" len="med"/>
                      <a:tailEnd type="none" w="med" len="med"/>
                    </a:lnR>
                    <a:lnT w="12700" cap="flat" cmpd="sng" algn="ctr">
                      <a:solidFill>
                        <a:srgbClr val="0F656D"/>
                      </a:solidFill>
                      <a:prstDash val="solid"/>
                      <a:round/>
                      <a:headEnd type="none" w="med" len="med"/>
                      <a:tailEnd type="none" w="med" len="med"/>
                    </a:lnT>
                    <a:lnB w="12700" cap="flat" cmpd="sng" algn="ctr">
                      <a:solidFill>
                        <a:srgbClr val="C2C4C5"/>
                      </a:solidFill>
                      <a:prstDash val="solid"/>
                      <a:round/>
                      <a:headEnd type="none" w="med" len="med"/>
                      <a:tailEnd type="none" w="med" len="med"/>
                    </a:lnB>
                  </a:tcPr>
                </a:tc>
                <a:tc>
                  <a:txBody>
                    <a:bodyPr/>
                    <a:lstStyle/>
                    <a:p>
                      <a:pPr indent="0" marL="0">
                        <a:lnSpc>
                          <a:spcPts val="1820"/>
                        </a:lnSpc>
                        <a:buNone/>
                      </a:pPr>
                      <a:r>
                        <a:rPr lang="en-US" sz="1300" dirty="0">
                          <a:solidFill>
                            <a:srgbClr val="14202E"/>
                          </a:solidFill>
                          <a:latin typeface="Inter" pitchFamily="34" charset="0"/>
                          <a:ea typeface="Inter" pitchFamily="34" charset="-122"/>
                          <a:cs typeface="Inter" pitchFamily="34" charset="-120"/>
                        </a:rPr>
                        <a:t>Reliable alerts for unauthorised devices and gestures</a:t>
                      </a:r>
                      <a:endParaRPr lang="en-US" sz="1300" dirty="0">
                        <a:latin typeface="Inter" charset="0"/>
                        <a:ea typeface="Inter" charset="0"/>
                        <a:cs typeface="Inter" charset="0"/>
                      </a:endParaRPr>
                    </a:p>
                  </a:txBody>
                  <a:tcPr marL="127000" marR="127000" marT="127000" marB="127000" anchor="t">
                    <a:lnL w="12700" cap="flat" cmpd="sng" algn="ctr">
                      <a:solidFill>
                        <a:srgbClr val="C2C4C5"/>
                      </a:solidFill>
                      <a:prstDash val="solid"/>
                      <a:round/>
                      <a:headEnd type="none" w="med" len="med"/>
                      <a:tailEnd type="none" w="med" len="med"/>
                    </a:lnL>
                    <a:lnR w="12700" cap="flat" cmpd="sng" algn="ctr">
                      <a:solidFill>
                        <a:srgbClr val="C2C4C5"/>
                      </a:solidFill>
                      <a:prstDash val="solid"/>
                      <a:round/>
                      <a:headEnd type="none" w="med" len="med"/>
                      <a:tailEnd type="none" w="med" len="med"/>
                    </a:lnR>
                    <a:lnT w="12700" cap="flat" cmpd="sng" algn="ctr">
                      <a:solidFill>
                        <a:srgbClr val="0F656D"/>
                      </a:solidFill>
                      <a:prstDash val="solid"/>
                      <a:round/>
                      <a:headEnd type="none" w="med" len="med"/>
                      <a:tailEnd type="none" w="med" len="med"/>
                    </a:lnT>
                    <a:lnB w="12700" cap="flat" cmpd="sng" algn="ctr">
                      <a:solidFill>
                        <a:srgbClr val="C2C4C5"/>
                      </a:solidFill>
                      <a:prstDash val="solid"/>
                      <a:round/>
                      <a:headEnd type="none" w="med" len="med"/>
                      <a:tailEnd type="none" w="med" len="med"/>
                    </a:lnB>
                  </a:tcPr>
                </a:tc>
              </a:tr>
              <a:tr h="728861">
                <a:tc>
                  <a:txBody>
                    <a:bodyPr/>
                    <a:lstStyle/>
                    <a:p>
                      <a:pPr indent="0" marL="0">
                        <a:lnSpc>
                          <a:spcPts val="1820"/>
                        </a:lnSpc>
                        <a:buNone/>
                      </a:pPr>
                      <a:r>
                        <a:rPr lang="en-US" sz="1300" dirty="0">
                          <a:solidFill>
                            <a:srgbClr val="14202E"/>
                          </a:solidFill>
                          <a:latin typeface="Inter" pitchFamily="34" charset="0"/>
                          <a:ea typeface="Inter" pitchFamily="34" charset="-122"/>
                          <a:cs typeface="Inter" pitchFamily="34" charset="-120"/>
                        </a:rPr>
                        <a:t>5</a:t>
                      </a:r>
                      <a:endParaRPr lang="en-US" sz="1300" dirty="0">
                        <a:latin typeface="Inter" charset="0"/>
                        <a:ea typeface="Inter" charset="0"/>
                        <a:cs typeface="Inter" charset="0"/>
                      </a:endParaRPr>
                    </a:p>
                  </a:txBody>
                  <a:tcPr marL="127000" marR="127000" marT="127000" marB="127000" anchor="t">
                    <a:lnL w="12700" cap="flat" cmpd="sng" algn="ctr">
                      <a:solidFill>
                        <a:srgbClr val="C2C4C5"/>
                      </a:solidFill>
                      <a:prstDash val="solid"/>
                      <a:round/>
                      <a:headEnd type="none" w="med" len="med"/>
                      <a:tailEnd type="none" w="med" len="med"/>
                    </a:lnL>
                    <a:lnR w="12700" cap="flat" cmpd="sng" algn="ctr">
                      <a:solidFill>
                        <a:srgbClr val="C2C4C5"/>
                      </a:solidFill>
                      <a:prstDash val="solid"/>
                      <a:round/>
                      <a:headEnd type="none" w="med" len="med"/>
                      <a:tailEnd type="none" w="med" len="med"/>
                    </a:lnR>
                    <a:lnT w="12700" cap="flat" cmpd="sng" algn="ctr">
                      <a:solidFill>
                        <a:srgbClr val="C2C4C5"/>
                      </a:solidFill>
                      <a:prstDash val="solid"/>
                      <a:round/>
                      <a:headEnd type="none" w="med" len="med"/>
                      <a:tailEnd type="none" w="med" len="med"/>
                    </a:lnT>
                    <a:lnB w="12700" cap="flat" cmpd="sng" algn="ctr">
                      <a:solidFill>
                        <a:srgbClr val="C2C4C5"/>
                      </a:solidFill>
                      <a:prstDash val="solid"/>
                      <a:round/>
                      <a:headEnd type="none" w="med" len="med"/>
                      <a:tailEnd type="none" w="med" len="med"/>
                    </a:lnB>
                  </a:tcPr>
                </a:tc>
                <a:tc>
                  <a:txBody>
                    <a:bodyPr/>
                    <a:lstStyle/>
                    <a:p>
                      <a:pPr indent="0" marL="0">
                        <a:lnSpc>
                          <a:spcPts val="1820"/>
                        </a:lnSpc>
                        <a:buNone/>
                      </a:pPr>
                      <a:r>
                        <a:rPr lang="en-US" sz="1300" dirty="0">
                          <a:solidFill>
                            <a:srgbClr val="14202E"/>
                          </a:solidFill>
                          <a:latin typeface="Inter" pitchFamily="34" charset="0"/>
                          <a:ea typeface="Inter" pitchFamily="34" charset="-122"/>
                          <a:cs typeface="Inter" pitchFamily="34" charset="-120"/>
                        </a:rPr>
                        <a:t>Automatic Cheating Detection in Exam Hall (2023)</a:t>
                      </a:r>
                      <a:endParaRPr lang="en-US" sz="1300" dirty="0">
                        <a:latin typeface="Inter" charset="0"/>
                        <a:ea typeface="Inter" charset="0"/>
                        <a:cs typeface="Inter" charset="0"/>
                      </a:endParaRPr>
                    </a:p>
                  </a:txBody>
                  <a:tcPr marL="127000" marR="127000" marT="127000" marB="127000" anchor="t">
                    <a:lnL w="12700" cap="flat" cmpd="sng" algn="ctr">
                      <a:solidFill>
                        <a:srgbClr val="C2C4C5"/>
                      </a:solidFill>
                      <a:prstDash val="solid"/>
                      <a:round/>
                      <a:headEnd type="none" w="med" len="med"/>
                      <a:tailEnd type="none" w="med" len="med"/>
                    </a:lnL>
                    <a:lnR w="12700" cap="flat" cmpd="sng" algn="ctr">
                      <a:solidFill>
                        <a:srgbClr val="C2C4C5"/>
                      </a:solidFill>
                      <a:prstDash val="solid"/>
                      <a:round/>
                      <a:headEnd type="none" w="med" len="med"/>
                      <a:tailEnd type="none" w="med" len="med"/>
                    </a:lnR>
                    <a:lnT w="12700" cap="flat" cmpd="sng" algn="ctr">
                      <a:solidFill>
                        <a:srgbClr val="C2C4C5"/>
                      </a:solidFill>
                      <a:prstDash val="solid"/>
                      <a:round/>
                      <a:headEnd type="none" w="med" len="med"/>
                      <a:tailEnd type="none" w="med" len="med"/>
                    </a:lnT>
                    <a:lnB w="12700" cap="flat" cmpd="sng" algn="ctr">
                      <a:solidFill>
                        <a:srgbClr val="C2C4C5"/>
                      </a:solidFill>
                      <a:prstDash val="solid"/>
                      <a:round/>
                      <a:headEnd type="none" w="med" len="med"/>
                      <a:tailEnd type="none" w="med" len="med"/>
                    </a:lnB>
                  </a:tcPr>
                </a:tc>
                <a:tc>
                  <a:txBody>
                    <a:bodyPr/>
                    <a:lstStyle/>
                    <a:p>
                      <a:pPr indent="0" marL="0">
                        <a:lnSpc>
                          <a:spcPts val="1820"/>
                        </a:lnSpc>
                        <a:buNone/>
                      </a:pPr>
                      <a:r>
                        <a:rPr lang="en-US" sz="1300" dirty="0">
                          <a:solidFill>
                            <a:srgbClr val="14202E"/>
                          </a:solidFill>
                          <a:latin typeface="Inter" pitchFamily="34" charset="0"/>
                          <a:ea typeface="Inter" pitchFamily="34" charset="-122"/>
                          <a:cs typeface="Inter" pitchFamily="34" charset="-120"/>
                        </a:rPr>
                        <a:t>YOLOv5 with residual backbone on CCTV</a:t>
                      </a:r>
                      <a:endParaRPr lang="en-US" sz="1300" dirty="0">
                        <a:latin typeface="Inter" charset="0"/>
                        <a:ea typeface="Inter" charset="0"/>
                        <a:cs typeface="Inter" charset="0"/>
                      </a:endParaRPr>
                    </a:p>
                  </a:txBody>
                  <a:tcPr marL="127000" marR="127000" marT="127000" marB="127000" anchor="t">
                    <a:lnL w="12700" cap="flat" cmpd="sng" algn="ctr">
                      <a:solidFill>
                        <a:srgbClr val="C2C4C5"/>
                      </a:solidFill>
                      <a:prstDash val="solid"/>
                      <a:round/>
                      <a:headEnd type="none" w="med" len="med"/>
                      <a:tailEnd type="none" w="med" len="med"/>
                    </a:lnL>
                    <a:lnR w="12700" cap="flat" cmpd="sng" algn="ctr">
                      <a:solidFill>
                        <a:srgbClr val="C2C4C5"/>
                      </a:solidFill>
                      <a:prstDash val="solid"/>
                      <a:round/>
                      <a:headEnd type="none" w="med" len="med"/>
                      <a:tailEnd type="none" w="med" len="med"/>
                    </a:lnR>
                    <a:lnT w="12700" cap="flat" cmpd="sng" algn="ctr">
                      <a:solidFill>
                        <a:srgbClr val="C2C4C5"/>
                      </a:solidFill>
                      <a:prstDash val="solid"/>
                      <a:round/>
                      <a:headEnd type="none" w="med" len="med"/>
                      <a:tailEnd type="none" w="med" len="med"/>
                    </a:lnT>
                    <a:lnB w="12700" cap="flat" cmpd="sng" algn="ctr">
                      <a:solidFill>
                        <a:srgbClr val="C2C4C5"/>
                      </a:solidFill>
                      <a:prstDash val="solid"/>
                      <a:round/>
                      <a:headEnd type="none" w="med" len="med"/>
                      <a:tailEnd type="none" w="med" len="med"/>
                    </a:lnB>
                  </a:tcPr>
                </a:tc>
                <a:tc>
                  <a:txBody>
                    <a:bodyPr/>
                    <a:lstStyle/>
                    <a:p>
                      <a:pPr indent="0" marL="0">
                        <a:lnSpc>
                          <a:spcPts val="1820"/>
                        </a:lnSpc>
                        <a:buNone/>
                      </a:pPr>
                      <a:r>
                        <a:rPr lang="en-US" sz="1300" dirty="0">
                          <a:solidFill>
                            <a:srgbClr val="14202E"/>
                          </a:solidFill>
                          <a:latin typeface="Inter" pitchFamily="34" charset="0"/>
                          <a:ea typeface="Inter" pitchFamily="34" charset="-122"/>
                          <a:cs typeface="Inter" pitchFamily="34" charset="-120"/>
                        </a:rPr>
                        <a:t>88.03% accuracy</a:t>
                      </a:r>
                      <a:endParaRPr lang="en-US" sz="1300" dirty="0">
                        <a:latin typeface="Inter" charset="0"/>
                        <a:ea typeface="Inter" charset="0"/>
                        <a:cs typeface="Inter" charset="0"/>
                      </a:endParaRPr>
                    </a:p>
                  </a:txBody>
                  <a:tcPr marL="127000" marR="127000" marT="127000" marB="127000" anchor="t">
                    <a:lnL w="12700" cap="flat" cmpd="sng" algn="ctr">
                      <a:solidFill>
                        <a:srgbClr val="C2C4C5"/>
                      </a:solidFill>
                      <a:prstDash val="solid"/>
                      <a:round/>
                      <a:headEnd type="none" w="med" len="med"/>
                      <a:tailEnd type="none" w="med" len="med"/>
                    </a:lnL>
                    <a:lnR w="12700" cap="flat" cmpd="sng" algn="ctr">
                      <a:solidFill>
                        <a:srgbClr val="C2C4C5"/>
                      </a:solidFill>
                      <a:prstDash val="solid"/>
                      <a:round/>
                      <a:headEnd type="none" w="med" len="med"/>
                      <a:tailEnd type="none" w="med" len="med"/>
                    </a:lnR>
                    <a:lnT w="12700" cap="flat" cmpd="sng" algn="ctr">
                      <a:solidFill>
                        <a:srgbClr val="C2C4C5"/>
                      </a:solidFill>
                      <a:prstDash val="solid"/>
                      <a:round/>
                      <a:headEnd type="none" w="med" len="med"/>
                      <a:tailEnd type="none" w="med" len="med"/>
                    </a:lnT>
                    <a:lnB w="12700" cap="flat" cmpd="sng" algn="ctr">
                      <a:solidFill>
                        <a:srgbClr val="C2C4C5"/>
                      </a:solidFill>
                      <a:prstDash val="solid"/>
                      <a:round/>
                      <a:headEnd type="none" w="med" len="med"/>
                      <a:tailEnd type="none" w="med" len="med"/>
                    </a:lnB>
                  </a:tcPr>
                </a:tc>
              </a:tr>
              <a:tr h="959941">
                <a:tc>
                  <a:txBody>
                    <a:bodyPr/>
                    <a:lstStyle/>
                    <a:p>
                      <a:pPr indent="0" marL="0">
                        <a:lnSpc>
                          <a:spcPts val="1820"/>
                        </a:lnSpc>
                        <a:buNone/>
                      </a:pPr>
                      <a:r>
                        <a:rPr lang="en-US" sz="1300" dirty="0">
                          <a:solidFill>
                            <a:srgbClr val="14202E"/>
                          </a:solidFill>
                          <a:latin typeface="Inter" pitchFamily="34" charset="0"/>
                          <a:ea typeface="Inter" pitchFamily="34" charset="-122"/>
                          <a:cs typeface="Inter" pitchFamily="34" charset="-120"/>
                        </a:rPr>
                        <a:t>6</a:t>
                      </a:r>
                      <a:endParaRPr lang="en-US" sz="1300" dirty="0">
                        <a:latin typeface="Inter" charset="0"/>
                        <a:ea typeface="Inter" charset="0"/>
                        <a:cs typeface="Inter" charset="0"/>
                      </a:endParaRPr>
                    </a:p>
                  </a:txBody>
                  <a:tcPr marL="127000" marR="127000" marT="127000" marB="127000" anchor="t">
                    <a:lnL w="12700" cap="flat" cmpd="sng" algn="ctr">
                      <a:solidFill>
                        <a:srgbClr val="C2C4C5"/>
                      </a:solidFill>
                      <a:prstDash val="solid"/>
                      <a:round/>
                      <a:headEnd type="none" w="med" len="med"/>
                      <a:tailEnd type="none" w="med" len="med"/>
                    </a:lnL>
                    <a:lnR w="12700" cap="flat" cmpd="sng" algn="ctr">
                      <a:solidFill>
                        <a:srgbClr val="C2C4C5"/>
                      </a:solidFill>
                      <a:prstDash val="solid"/>
                      <a:round/>
                      <a:headEnd type="none" w="med" len="med"/>
                      <a:tailEnd type="none" w="med" len="med"/>
                    </a:lnR>
                    <a:lnT w="12700" cap="flat" cmpd="sng" algn="ctr">
                      <a:solidFill>
                        <a:srgbClr val="C2C4C5"/>
                      </a:solidFill>
                      <a:prstDash val="solid"/>
                      <a:round/>
                      <a:headEnd type="none" w="med" len="med"/>
                      <a:tailEnd type="none" w="med" len="med"/>
                    </a:lnT>
                    <a:lnB w="12700" cap="flat" cmpd="sng" algn="ctr">
                      <a:solidFill>
                        <a:srgbClr val="C2C4C5"/>
                      </a:solidFill>
                      <a:prstDash val="solid"/>
                      <a:round/>
                      <a:headEnd type="none" w="med" len="med"/>
                      <a:tailEnd type="none" w="med" len="med"/>
                    </a:lnB>
                  </a:tcPr>
                </a:tc>
                <a:tc>
                  <a:txBody>
                    <a:bodyPr/>
                    <a:lstStyle/>
                    <a:p>
                      <a:pPr indent="0" marL="0">
                        <a:lnSpc>
                          <a:spcPts val="1820"/>
                        </a:lnSpc>
                        <a:buNone/>
                      </a:pPr>
                      <a:r>
                        <a:rPr lang="en-US" sz="1300" dirty="0">
                          <a:solidFill>
                            <a:srgbClr val="14202E"/>
                          </a:solidFill>
                          <a:latin typeface="Inter" pitchFamily="34" charset="0"/>
                          <a:ea typeface="Inter" pitchFamily="34" charset="-122"/>
                          <a:cs typeface="Inter" pitchFamily="34" charset="-120"/>
                        </a:rPr>
                        <a:t>Online Exam Cheating Detection Using Deep Learning (2022)</a:t>
                      </a:r>
                      <a:endParaRPr lang="en-US" sz="1300" dirty="0">
                        <a:latin typeface="Inter" charset="0"/>
                        <a:ea typeface="Inter" charset="0"/>
                        <a:cs typeface="Inter" charset="0"/>
                      </a:endParaRPr>
                    </a:p>
                  </a:txBody>
                  <a:tcPr marL="127000" marR="127000" marT="127000" marB="127000" anchor="t">
                    <a:lnL w="12700" cap="flat" cmpd="sng" algn="ctr">
                      <a:solidFill>
                        <a:srgbClr val="C2C4C5"/>
                      </a:solidFill>
                      <a:prstDash val="solid"/>
                      <a:round/>
                      <a:headEnd type="none" w="med" len="med"/>
                      <a:tailEnd type="none" w="med" len="med"/>
                    </a:lnL>
                    <a:lnR w="12700" cap="flat" cmpd="sng" algn="ctr">
                      <a:solidFill>
                        <a:srgbClr val="C2C4C5"/>
                      </a:solidFill>
                      <a:prstDash val="solid"/>
                      <a:round/>
                      <a:headEnd type="none" w="med" len="med"/>
                      <a:tailEnd type="none" w="med" len="med"/>
                    </a:lnR>
                    <a:lnT w="12700" cap="flat" cmpd="sng" algn="ctr">
                      <a:solidFill>
                        <a:srgbClr val="C2C4C5"/>
                      </a:solidFill>
                      <a:prstDash val="solid"/>
                      <a:round/>
                      <a:headEnd type="none" w="med" len="med"/>
                      <a:tailEnd type="none" w="med" len="med"/>
                    </a:lnT>
                    <a:lnB w="12700" cap="flat" cmpd="sng" algn="ctr">
                      <a:solidFill>
                        <a:srgbClr val="C2C4C5"/>
                      </a:solidFill>
                      <a:prstDash val="solid"/>
                      <a:round/>
                      <a:headEnd type="none" w="med" len="med"/>
                      <a:tailEnd type="none" w="med" len="med"/>
                    </a:lnB>
                  </a:tcPr>
                </a:tc>
                <a:tc>
                  <a:txBody>
                    <a:bodyPr/>
                    <a:lstStyle/>
                    <a:p>
                      <a:pPr indent="0" marL="0">
                        <a:lnSpc>
                          <a:spcPts val="1820"/>
                        </a:lnSpc>
                        <a:buNone/>
                      </a:pPr>
                      <a:r>
                        <a:rPr lang="en-US" sz="1300" dirty="0">
                          <a:solidFill>
                            <a:srgbClr val="14202E"/>
                          </a:solidFill>
                          <a:latin typeface="Inter" pitchFamily="34" charset="0"/>
                          <a:ea typeface="Inter" pitchFamily="34" charset="-122"/>
                          <a:cs typeface="Inter" pitchFamily="34" charset="-120"/>
                        </a:rPr>
                        <a:t>CNN on frames + speech fusion</a:t>
                      </a:r>
                      <a:endParaRPr lang="en-US" sz="1300" dirty="0">
                        <a:latin typeface="Inter" charset="0"/>
                        <a:ea typeface="Inter" charset="0"/>
                        <a:cs typeface="Inter" charset="0"/>
                      </a:endParaRPr>
                    </a:p>
                  </a:txBody>
                  <a:tcPr marL="127000" marR="127000" marT="127000" marB="127000" anchor="t">
                    <a:lnL w="12700" cap="flat" cmpd="sng" algn="ctr">
                      <a:solidFill>
                        <a:srgbClr val="C2C4C5"/>
                      </a:solidFill>
                      <a:prstDash val="solid"/>
                      <a:round/>
                      <a:headEnd type="none" w="med" len="med"/>
                      <a:tailEnd type="none" w="med" len="med"/>
                    </a:lnL>
                    <a:lnR w="12700" cap="flat" cmpd="sng" algn="ctr">
                      <a:solidFill>
                        <a:srgbClr val="C2C4C5"/>
                      </a:solidFill>
                      <a:prstDash val="solid"/>
                      <a:round/>
                      <a:headEnd type="none" w="med" len="med"/>
                      <a:tailEnd type="none" w="med" len="med"/>
                    </a:lnR>
                    <a:lnT w="12700" cap="flat" cmpd="sng" algn="ctr">
                      <a:solidFill>
                        <a:srgbClr val="C2C4C5"/>
                      </a:solidFill>
                      <a:prstDash val="solid"/>
                      <a:round/>
                      <a:headEnd type="none" w="med" len="med"/>
                      <a:tailEnd type="none" w="med" len="med"/>
                    </a:lnT>
                    <a:lnB w="12700" cap="flat" cmpd="sng" algn="ctr">
                      <a:solidFill>
                        <a:srgbClr val="C2C4C5"/>
                      </a:solidFill>
                      <a:prstDash val="solid"/>
                      <a:round/>
                      <a:headEnd type="none" w="med" len="med"/>
                      <a:tailEnd type="none" w="med" len="med"/>
                    </a:lnB>
                  </a:tcPr>
                </a:tc>
                <a:tc>
                  <a:txBody>
                    <a:bodyPr/>
                    <a:lstStyle/>
                    <a:p>
                      <a:pPr indent="0" marL="0">
                        <a:lnSpc>
                          <a:spcPts val="1820"/>
                        </a:lnSpc>
                        <a:buNone/>
                      </a:pPr>
                      <a:r>
                        <a:rPr lang="en-US" sz="1300" dirty="0">
                          <a:solidFill>
                            <a:srgbClr val="14202E"/>
                          </a:solidFill>
                          <a:latin typeface="Inter" pitchFamily="34" charset="0"/>
                          <a:ea typeface="Inter" pitchFamily="34" charset="-122"/>
                          <a:cs typeface="Inter" pitchFamily="34" charset="-120"/>
                        </a:rPr>
                        <a:t>Constructive results; need for lighter models</a:t>
                      </a:r>
                      <a:endParaRPr lang="en-US" sz="1300" dirty="0">
                        <a:latin typeface="Inter" charset="0"/>
                        <a:ea typeface="Inter" charset="0"/>
                        <a:cs typeface="Inter" charset="0"/>
                      </a:endParaRPr>
                    </a:p>
                  </a:txBody>
                  <a:tcPr marL="127000" marR="127000" marT="127000" marB="127000" anchor="t">
                    <a:lnL w="12700" cap="flat" cmpd="sng" algn="ctr">
                      <a:solidFill>
                        <a:srgbClr val="C2C4C5"/>
                      </a:solidFill>
                      <a:prstDash val="solid"/>
                      <a:round/>
                      <a:headEnd type="none" w="med" len="med"/>
                      <a:tailEnd type="none" w="med" len="med"/>
                    </a:lnL>
                    <a:lnR w="12700" cap="flat" cmpd="sng" algn="ctr">
                      <a:solidFill>
                        <a:srgbClr val="C2C4C5"/>
                      </a:solidFill>
                      <a:prstDash val="solid"/>
                      <a:round/>
                      <a:headEnd type="none" w="med" len="med"/>
                      <a:tailEnd type="none" w="med" len="med"/>
                    </a:lnR>
                    <a:lnT w="12700" cap="flat" cmpd="sng" algn="ctr">
                      <a:solidFill>
                        <a:srgbClr val="C2C4C5"/>
                      </a:solidFill>
                      <a:prstDash val="solid"/>
                      <a:round/>
                      <a:headEnd type="none" w="med" len="med"/>
                      <a:tailEnd type="none" w="med" len="med"/>
                    </a:lnT>
                    <a:lnB w="12700" cap="flat" cmpd="sng" algn="ctr">
                      <a:solidFill>
                        <a:srgbClr val="C2C4C5"/>
                      </a:solidFill>
                      <a:prstDash val="solid"/>
                      <a:round/>
                      <a:headEnd type="none" w="med" len="med"/>
                      <a:tailEnd type="none" w="med" len="med"/>
                    </a:lnB>
                  </a:tcPr>
                </a:tc>
              </a:tr>
            </a:tbl>
          </a:graphicData>
        </a:graphic>
      </p:graphicFrame>
      <p:sp>
        <p:nvSpPr>
          <p:cNvPr id="4" name="Text 1"/>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6"/>
                </a:solidFill>
                <a:latin typeface="Inter" pitchFamily="34" charset="0"/>
                <a:ea typeface="Inter" pitchFamily="34" charset="-122"/>
                <a:cs typeface="Inter" pitchFamily="34" charset="-120"/>
              </a:rPr>
              <a:t>Smart Surveillance System · Major Project Phase-1 · Review-2</a:t>
            </a:r>
            <a:endParaRPr lang="en-US" sz="1200" dirty="0"/>
          </a:p>
        </p:txBody>
      </p:sp>
      <p:sp>
        <p:nvSpPr>
          <p:cNvPr id="5" name="Text 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6"/>
                </a:solidFill>
                <a:latin typeface="Inter" pitchFamily="34" charset="0"/>
                <a:ea typeface="Inter" pitchFamily="34" charset="-122"/>
                <a:cs typeface="Inter"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5F7"/>
        </a:solidFill>
      </p:bgPr>
    </p:bg>
    <p:spTree>
      <p:nvGrpSpPr>
        <p:cNvPr id="1" name=""/>
        <p:cNvGrpSpPr/>
        <p:nvPr/>
      </p:nvGrpSpPr>
      <p:grpSpPr>
        <a:xfrm>
          <a:off x="0" y="0"/>
          <a:ext cx="0" cy="0"/>
          <a:chOff x="0" y="0"/>
          <a:chExt cx="0" cy="0"/>
        </a:xfrm>
      </p:grpSpPr>
      <p:sp>
        <p:nvSpPr>
          <p:cNvPr id="2" name="Text 0"/>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6"/>
                </a:solidFill>
                <a:latin typeface="Inter" pitchFamily="34" charset="0"/>
                <a:ea typeface="Inter" pitchFamily="34" charset="-122"/>
                <a:cs typeface="Inter" pitchFamily="34" charset="-120"/>
              </a:rPr>
              <a:t>Smart Surveillance System · Major Project Phase-1 · Review-2</a:t>
            </a:r>
            <a:endParaRPr lang="en-US" sz="1200" dirty="0"/>
          </a:p>
        </p:txBody>
      </p:sp>
      <p:sp>
        <p:nvSpPr>
          <p:cNvPr id="3" name="Text 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6"/>
                </a:solidFill>
                <a:latin typeface="Inter" pitchFamily="34" charset="0"/>
                <a:ea typeface="Inter" pitchFamily="34" charset="-122"/>
                <a:cs typeface="Inter" pitchFamily="34" charset="-120"/>
              </a:rPr>
              <a:t>8</a:t>
            </a:r>
            <a:endParaRPr lang="en-US" sz="1200" dirty="0"/>
          </a:p>
        </p:txBody>
      </p:sp>
      <p:sp>
        <p:nvSpPr>
          <p:cNvPr id="4" name="Text 2"/>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7C86"/>
                </a:solidFill>
                <a:latin typeface="Inter" pitchFamily="34" charset="0"/>
                <a:ea typeface="Inter" pitchFamily="34" charset="-122"/>
                <a:cs typeface="Inter" pitchFamily="34" charset="-120"/>
              </a:rPr>
              <a:t>Existing System &amp; its Disadvantages</a:t>
            </a:r>
            <a:endParaRPr lang="en-US" sz="3200" dirty="0"/>
          </a:p>
        </p:txBody>
      </p:sp>
      <p:sp>
        <p:nvSpPr>
          <p:cNvPr id="5" name="Shape 3"/>
          <p:cNvSpPr/>
          <p:nvPr/>
        </p:nvSpPr>
        <p:spPr>
          <a:xfrm>
            <a:off x="6197600" y="2049959"/>
            <a:ext cx="5181600" cy="2758083"/>
          </a:xfrm>
          <a:prstGeom prst="roundRect">
            <a:avLst>
              <a:gd name="adj" fmla="val 3684"/>
            </a:avLst>
          </a:prstGeom>
          <a:solidFill>
            <a:srgbClr val="FFFFFF"/>
          </a:solidFill>
          <a:ln/>
        </p:spPr>
      </p:sp>
      <p:sp>
        <p:nvSpPr>
          <p:cNvPr id="6" name="Shape 4"/>
          <p:cNvSpPr/>
          <p:nvPr/>
        </p:nvSpPr>
        <p:spPr>
          <a:xfrm>
            <a:off x="6197600" y="2049959"/>
            <a:ext cx="5181600" cy="2758083"/>
          </a:xfrm>
          <a:custGeom>
            <a:avLst/>
            <a:gdLst/>
            <a:ahLst/>
            <a:cxnLst/>
            <a:rect l="l" t="t" r="r" b="b"/>
            <a:pathLst>
              <a:path w="5181600" h="2758083">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B4531A"/>
          </a:solidFill>
          <a:ln/>
        </p:spPr>
      </p:sp>
      <p:sp>
        <p:nvSpPr>
          <p:cNvPr id="7" name="Text 5"/>
          <p:cNvSpPr/>
          <p:nvPr/>
        </p:nvSpPr>
        <p:spPr>
          <a:xfrm>
            <a:off x="6451600" y="2354759"/>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4531A"/>
                </a:solidFill>
                <a:latin typeface="Inter" pitchFamily="34" charset="0"/>
                <a:ea typeface="Inter" pitchFamily="34" charset="-122"/>
                <a:cs typeface="Inter" pitchFamily="34" charset="-120"/>
              </a:rPr>
              <a:t>Disadvantages</a:t>
            </a:r>
            <a:endParaRPr lang="en-US" sz="2000" dirty="0"/>
          </a:p>
        </p:txBody>
      </p:sp>
      <p:sp>
        <p:nvSpPr>
          <p:cNvPr id="8" name="Text 6"/>
          <p:cNvSpPr/>
          <p:nvPr/>
        </p:nvSpPr>
        <p:spPr>
          <a:xfrm>
            <a:off x="6521958" y="2786559"/>
            <a:ext cx="4735830" cy="1792883"/>
          </a:xfrm>
          <a:prstGeom prst="rect">
            <a:avLst/>
          </a:prstGeom>
          <a:noFill/>
          <a:ln/>
        </p:spPr>
        <p:txBody>
          <a:bodyPr wrap="square" lIns="0" tIns="0" rIns="0" bIns="0" rtlCol="0" anchor="t">
            <a:normAutofit/>
          </a:bodyPr>
          <a:lstStyle/>
          <a:p>
            <a:pPr algn="l" marL="183642" indent="-183642">
              <a:lnSpc>
                <a:spcPts val="2320"/>
              </a:lnSpc>
              <a:buSzPct val="100000"/>
              <a:buChar char="•"/>
            </a:pPr>
            <a:r>
              <a:rPr lang="en-US" sz="1600" dirty="0">
                <a:solidFill>
                  <a:srgbClr val="14202E"/>
                </a:solidFill>
                <a:latin typeface="Inter" pitchFamily="34" charset="0"/>
                <a:ea typeface="Inter" pitchFamily="34" charset="-122"/>
                <a:cs typeface="Inter" pitchFamily="34" charset="-120"/>
              </a:rPr>
              <a:t>Sustained attention is impossible across a whole hall</a:t>
            </a:r>
            <a:endParaRPr lang="en-US" sz="1600" dirty="0"/>
          </a:p>
          <a:p>
            <a:pPr algn="l" marL="183642" indent="-183642">
              <a:lnSpc>
                <a:spcPts val="2320"/>
              </a:lnSpc>
              <a:buSzPct val="100000"/>
              <a:buChar char="•"/>
            </a:pPr>
            <a:r>
              <a:rPr lang="en-US" sz="1600" dirty="0">
                <a:solidFill>
                  <a:srgbClr val="14202E"/>
                </a:solidFill>
                <a:latin typeface="Inter" pitchFamily="34" charset="0"/>
                <a:ea typeface="Inter" pitchFamily="34" charset="-122"/>
                <a:cs typeface="Inter" pitchFamily="34" charset="-120"/>
              </a:rPr>
              <a:t>Brief cues are missed and hard to prove</a:t>
            </a:r>
            <a:endParaRPr lang="en-US" sz="1600" dirty="0"/>
          </a:p>
          <a:p>
            <a:pPr algn="l" marL="183642" indent="-183642">
              <a:lnSpc>
                <a:spcPts val="2320"/>
              </a:lnSpc>
              <a:buSzPct val="100000"/>
              <a:buChar char="•"/>
            </a:pPr>
            <a:r>
              <a:rPr lang="en-US" sz="1600" dirty="0">
                <a:solidFill>
                  <a:srgbClr val="14202E"/>
                </a:solidFill>
                <a:latin typeface="Inter" pitchFamily="34" charset="0"/>
                <a:ea typeface="Inter" pitchFamily="34" charset="-122"/>
                <a:cs typeface="Inter" pitchFamily="34" charset="-120"/>
              </a:rPr>
              <a:t>Reviewing hours of footage is slow</a:t>
            </a:r>
            <a:endParaRPr lang="en-US" sz="1600" dirty="0"/>
          </a:p>
          <a:p>
            <a:pPr algn="l" marL="183642" indent="-183642">
              <a:lnSpc>
                <a:spcPts val="2320"/>
              </a:lnSpc>
              <a:buSzPct val="100000"/>
              <a:buChar char="•"/>
            </a:pPr>
            <a:r>
              <a:rPr lang="en-US" sz="1600" dirty="0">
                <a:solidFill>
                  <a:srgbClr val="14202E"/>
                </a:solidFill>
                <a:latin typeface="Inter" pitchFamily="34" charset="0"/>
                <a:ea typeface="Inter" pitchFamily="34" charset="-122"/>
                <a:cs typeface="Inter" pitchFamily="34" charset="-120"/>
              </a:rPr>
              <a:t>Heavy single-model systems are hard to explain and deploy at college scale</a:t>
            </a:r>
            <a:endParaRPr lang="en-US" sz="1600" dirty="0"/>
          </a:p>
        </p:txBody>
      </p:sp>
      <p:sp>
        <p:nvSpPr>
          <p:cNvPr id="9" name="Shape 7"/>
          <p:cNvSpPr/>
          <p:nvPr/>
        </p:nvSpPr>
        <p:spPr>
          <a:xfrm>
            <a:off x="812800" y="2047875"/>
            <a:ext cx="5181600" cy="2762250"/>
          </a:xfrm>
          <a:prstGeom prst="roundRect">
            <a:avLst>
              <a:gd name="adj" fmla="val 3678"/>
            </a:avLst>
          </a:prstGeom>
          <a:solidFill>
            <a:srgbClr val="FFFFFF"/>
          </a:solidFill>
          <a:ln/>
        </p:spPr>
      </p:sp>
      <p:sp>
        <p:nvSpPr>
          <p:cNvPr id="10" name="Shape 8"/>
          <p:cNvSpPr/>
          <p:nvPr/>
        </p:nvSpPr>
        <p:spPr>
          <a:xfrm>
            <a:off x="812800" y="2047875"/>
            <a:ext cx="5181600" cy="2762250"/>
          </a:xfrm>
          <a:custGeom>
            <a:avLst/>
            <a:gdLst/>
            <a:ahLst/>
            <a:cxnLst/>
            <a:rect l="l" t="t" r="r" b="b"/>
            <a:pathLst>
              <a:path w="5181600" h="2762250">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B4531A"/>
          </a:solidFill>
          <a:ln/>
        </p:spPr>
      </p:sp>
      <p:sp>
        <p:nvSpPr>
          <p:cNvPr id="11" name="Text 9"/>
          <p:cNvSpPr/>
          <p:nvPr/>
        </p:nvSpPr>
        <p:spPr>
          <a:xfrm>
            <a:off x="1066800" y="2352675"/>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4531A"/>
                </a:solidFill>
                <a:latin typeface="Inter" pitchFamily="34" charset="0"/>
                <a:ea typeface="Inter" pitchFamily="34" charset="-122"/>
                <a:cs typeface="Inter" pitchFamily="34" charset="-120"/>
              </a:rPr>
              <a:t>Existing System</a:t>
            </a:r>
            <a:endParaRPr lang="en-US" sz="2000" dirty="0"/>
          </a:p>
        </p:txBody>
      </p:sp>
      <p:sp>
        <p:nvSpPr>
          <p:cNvPr id="12" name="Text 10"/>
          <p:cNvSpPr/>
          <p:nvPr/>
        </p:nvSpPr>
        <p:spPr>
          <a:xfrm>
            <a:off x="1137158" y="2784475"/>
            <a:ext cx="4735830" cy="1498302"/>
          </a:xfrm>
          <a:prstGeom prst="rect">
            <a:avLst/>
          </a:prstGeom>
          <a:noFill/>
          <a:ln/>
        </p:spPr>
        <p:txBody>
          <a:bodyPr wrap="square" lIns="0" tIns="0" rIns="0" bIns="0" rtlCol="0" anchor="t">
            <a:normAutofit/>
          </a:bodyPr>
          <a:lstStyle/>
          <a:p>
            <a:pPr algn="l" marL="183642" indent="-183642">
              <a:lnSpc>
                <a:spcPts val="2320"/>
              </a:lnSpc>
              <a:buSzPct val="100000"/>
              <a:buChar char="•"/>
            </a:pPr>
            <a:r>
              <a:rPr lang="en-US" sz="1600" dirty="0">
                <a:solidFill>
                  <a:srgbClr val="14202E"/>
                </a:solidFill>
                <a:latin typeface="Inter" pitchFamily="34" charset="0"/>
                <a:ea typeface="Inter" pitchFamily="34" charset="-122"/>
                <a:cs typeface="Inter" pitchFamily="34" charset="-120"/>
              </a:rPr>
              <a:t>Manual invigilation: one invigilator, many students</a:t>
            </a:r>
            <a:endParaRPr lang="en-US" sz="1600" dirty="0"/>
          </a:p>
          <a:p>
            <a:pPr algn="l" marL="183642" indent="-183642">
              <a:lnSpc>
                <a:spcPts val="2320"/>
              </a:lnSpc>
              <a:buSzPct val="100000"/>
              <a:buChar char="•"/>
            </a:pPr>
            <a:r>
              <a:rPr lang="en-US" sz="1600" dirty="0">
                <a:solidFill>
                  <a:srgbClr val="14202E"/>
                </a:solidFill>
                <a:latin typeface="Inter" pitchFamily="34" charset="0"/>
                <a:ea typeface="Inter" pitchFamily="34" charset="-122"/>
                <a:cs typeface="Inter" pitchFamily="34" charset="-120"/>
              </a:rPr>
              <a:t>Raw CCTV footage reviewed after the fact</a:t>
            </a:r>
            <a:endParaRPr lang="en-US" sz="1600" dirty="0"/>
          </a:p>
          <a:p>
            <a:pPr algn="l" marL="183642" indent="-183642">
              <a:lnSpc>
                <a:spcPts val="2320"/>
              </a:lnSpc>
              <a:buSzPct val="100000"/>
              <a:buChar char="•"/>
            </a:pPr>
            <a:r>
              <a:rPr lang="en-US" sz="1600" dirty="0">
                <a:solidFill>
                  <a:srgbClr val="14202E"/>
                </a:solidFill>
                <a:latin typeface="Inter" pitchFamily="34" charset="0"/>
                <a:ea typeface="Inter" pitchFamily="34" charset="-122"/>
                <a:cs typeface="Inter" pitchFamily="34" charset="-120"/>
              </a:rPr>
              <a:t>Research systems built on one heavy model per behaviour</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5F7"/>
        </a:solidFill>
      </p:bgPr>
    </p:bg>
    <p:spTree>
      <p:nvGrpSpPr>
        <p:cNvPr id="1" name=""/>
        <p:cNvGrpSpPr/>
        <p:nvPr/>
      </p:nvGrpSpPr>
      <p:grpSpPr>
        <a:xfrm>
          <a:off x="0" y="0"/>
          <a:ext cx="0" cy="0"/>
          <a:chOff x="0" y="0"/>
          <a:chExt cx="0" cy="0"/>
        </a:xfrm>
      </p:grpSpPr>
      <p:sp>
        <p:nvSpPr>
          <p:cNvPr id="2" name="Text 0"/>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6"/>
                </a:solidFill>
                <a:latin typeface="Inter" pitchFamily="34" charset="0"/>
                <a:ea typeface="Inter" pitchFamily="34" charset="-122"/>
                <a:cs typeface="Inter" pitchFamily="34" charset="-120"/>
              </a:rPr>
              <a:t>Smart Surveillance System · Major Project Phase-1 · Review-2</a:t>
            </a:r>
            <a:endParaRPr lang="en-US" sz="1200" dirty="0"/>
          </a:p>
        </p:txBody>
      </p:sp>
      <p:sp>
        <p:nvSpPr>
          <p:cNvPr id="3" name="Text 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6"/>
                </a:solidFill>
                <a:latin typeface="Inter" pitchFamily="34" charset="0"/>
                <a:ea typeface="Inter" pitchFamily="34" charset="-122"/>
                <a:cs typeface="Inter" pitchFamily="34" charset="-120"/>
              </a:rPr>
              <a:t>9</a:t>
            </a:r>
            <a:endParaRPr lang="en-US" sz="1200" dirty="0"/>
          </a:p>
        </p:txBody>
      </p:sp>
      <p:sp>
        <p:nvSpPr>
          <p:cNvPr id="4" name="Text 2"/>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7C86"/>
                </a:solidFill>
                <a:latin typeface="Inter" pitchFamily="34" charset="0"/>
                <a:ea typeface="Inter" pitchFamily="34" charset="-122"/>
                <a:cs typeface="Inter" pitchFamily="34" charset="-120"/>
              </a:rPr>
              <a:t>Proposed System &amp; its Advantages</a:t>
            </a:r>
            <a:endParaRPr lang="en-US" sz="3200" dirty="0"/>
          </a:p>
        </p:txBody>
      </p:sp>
      <p:sp>
        <p:nvSpPr>
          <p:cNvPr id="5" name="Shape 3"/>
          <p:cNvSpPr/>
          <p:nvPr/>
        </p:nvSpPr>
        <p:spPr>
          <a:xfrm>
            <a:off x="6197600" y="1902668"/>
            <a:ext cx="5181600" cy="3052663"/>
          </a:xfrm>
          <a:prstGeom prst="roundRect">
            <a:avLst>
              <a:gd name="adj" fmla="val 3328"/>
            </a:avLst>
          </a:prstGeom>
          <a:solidFill>
            <a:srgbClr val="FFFFFF"/>
          </a:solidFill>
          <a:ln/>
        </p:spPr>
      </p:sp>
      <p:sp>
        <p:nvSpPr>
          <p:cNvPr id="6" name="Shape 4"/>
          <p:cNvSpPr/>
          <p:nvPr/>
        </p:nvSpPr>
        <p:spPr>
          <a:xfrm>
            <a:off x="6197600" y="1902668"/>
            <a:ext cx="5181600" cy="3052663"/>
          </a:xfrm>
          <a:custGeom>
            <a:avLst/>
            <a:gdLst/>
            <a:ahLst/>
            <a:cxnLst/>
            <a:rect l="l" t="t" r="r" b="b"/>
            <a:pathLst>
              <a:path w="5181600" h="3052663">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0E7C86"/>
          </a:solidFill>
          <a:ln/>
        </p:spPr>
      </p:sp>
      <p:sp>
        <p:nvSpPr>
          <p:cNvPr id="7" name="Text 5"/>
          <p:cNvSpPr/>
          <p:nvPr/>
        </p:nvSpPr>
        <p:spPr>
          <a:xfrm>
            <a:off x="6451600" y="2207468"/>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E7C86"/>
                </a:solidFill>
                <a:latin typeface="Inter" pitchFamily="34" charset="0"/>
                <a:ea typeface="Inter" pitchFamily="34" charset="-122"/>
                <a:cs typeface="Inter" pitchFamily="34" charset="-120"/>
              </a:rPr>
              <a:t>Advantages</a:t>
            </a:r>
            <a:endParaRPr lang="en-US" sz="2000" dirty="0"/>
          </a:p>
        </p:txBody>
      </p:sp>
      <p:sp>
        <p:nvSpPr>
          <p:cNvPr id="8" name="Text 6"/>
          <p:cNvSpPr/>
          <p:nvPr/>
        </p:nvSpPr>
        <p:spPr>
          <a:xfrm>
            <a:off x="6521958" y="2639268"/>
            <a:ext cx="4735830" cy="2087463"/>
          </a:xfrm>
          <a:prstGeom prst="rect">
            <a:avLst/>
          </a:prstGeom>
          <a:noFill/>
          <a:ln/>
        </p:spPr>
        <p:txBody>
          <a:bodyPr wrap="square" lIns="0" tIns="0" rIns="0" bIns="0" rtlCol="0" anchor="t">
            <a:normAutofit/>
          </a:bodyPr>
          <a:lstStyle/>
          <a:p>
            <a:pPr algn="l" marL="183642" indent="-183642">
              <a:lnSpc>
                <a:spcPts val="2320"/>
              </a:lnSpc>
              <a:buSzPct val="100000"/>
              <a:buChar char="•"/>
            </a:pPr>
            <a:r>
              <a:rPr lang="en-US" sz="1600" dirty="0">
                <a:solidFill>
                  <a:srgbClr val="14202E"/>
                </a:solidFill>
                <a:latin typeface="Inter" pitchFamily="34" charset="0"/>
                <a:ea typeface="Inter" pitchFamily="34" charset="-122"/>
                <a:cs typeface="Inter" pitchFamily="34" charset="-120"/>
              </a:rPr>
              <a:t>Eases invigilator workload and surfaces only key moments</a:t>
            </a:r>
            <a:endParaRPr lang="en-US" sz="1600" dirty="0"/>
          </a:p>
          <a:p>
            <a:pPr algn="l" marL="183642" indent="-183642">
              <a:lnSpc>
                <a:spcPts val="2320"/>
              </a:lnSpc>
              <a:buSzPct val="100000"/>
              <a:buChar char="•"/>
            </a:pPr>
            <a:r>
              <a:rPr lang="en-US" sz="1600" dirty="0">
                <a:solidFill>
                  <a:srgbClr val="14202E"/>
                </a:solidFill>
                <a:latin typeface="Inter" pitchFamily="34" charset="0"/>
                <a:ea typeface="Inter" pitchFamily="34" charset="-122"/>
                <a:cs typeface="Inter" pitchFamily="34" charset="-120"/>
              </a:rPr>
              <a:t>Fewer false alarms than single-frame judgement</a:t>
            </a:r>
            <a:endParaRPr lang="en-US" sz="1600" dirty="0"/>
          </a:p>
          <a:p>
            <a:pPr algn="l" marL="183642" indent="-183642">
              <a:lnSpc>
                <a:spcPts val="2320"/>
              </a:lnSpc>
              <a:buSzPct val="100000"/>
              <a:buChar char="•"/>
            </a:pPr>
            <a:r>
              <a:rPr lang="en-US" sz="1600" dirty="0">
                <a:solidFill>
                  <a:srgbClr val="14202E"/>
                </a:solidFill>
                <a:latin typeface="Inter" pitchFamily="34" charset="0"/>
                <a:ea typeface="Inter" pitchFamily="34" charset="-122"/>
                <a:cs typeface="Inter" pitchFamily="34" charset="-120"/>
              </a:rPr>
              <a:t>Explainable rules + ML; searchable timestamped log</a:t>
            </a:r>
            <a:endParaRPr lang="en-US" sz="1600" dirty="0"/>
          </a:p>
          <a:p>
            <a:pPr algn="l" marL="183642" indent="-183642">
              <a:lnSpc>
                <a:spcPts val="2320"/>
              </a:lnSpc>
              <a:buSzPct val="100000"/>
              <a:buChar char="•"/>
            </a:pPr>
            <a:r>
              <a:rPr lang="en-US" sz="1600" dirty="0">
                <a:solidFill>
                  <a:srgbClr val="14202E"/>
                </a:solidFill>
                <a:latin typeface="Inter" pitchFamily="34" charset="0"/>
                <a:ea typeface="Inter" pitchFamily="34" charset="-122"/>
                <a:cs typeface="Inter" pitchFamily="34" charset="-120"/>
              </a:rPr>
              <a:t>Uses existing CCTV or a simple webcam</a:t>
            </a:r>
            <a:endParaRPr lang="en-US" sz="1600" dirty="0"/>
          </a:p>
        </p:txBody>
      </p:sp>
      <p:sp>
        <p:nvSpPr>
          <p:cNvPr id="9" name="Shape 7"/>
          <p:cNvSpPr/>
          <p:nvPr/>
        </p:nvSpPr>
        <p:spPr>
          <a:xfrm>
            <a:off x="812800" y="1901825"/>
            <a:ext cx="5181600" cy="3054350"/>
          </a:xfrm>
          <a:prstGeom prst="roundRect">
            <a:avLst>
              <a:gd name="adj" fmla="val 3326"/>
            </a:avLst>
          </a:prstGeom>
          <a:solidFill>
            <a:srgbClr val="FFFFFF"/>
          </a:solidFill>
          <a:ln/>
        </p:spPr>
      </p:sp>
      <p:sp>
        <p:nvSpPr>
          <p:cNvPr id="10" name="Shape 8"/>
          <p:cNvSpPr/>
          <p:nvPr/>
        </p:nvSpPr>
        <p:spPr>
          <a:xfrm>
            <a:off x="812800" y="1901825"/>
            <a:ext cx="5181600" cy="3054350"/>
          </a:xfrm>
          <a:custGeom>
            <a:avLst/>
            <a:gdLst/>
            <a:ahLst/>
            <a:cxnLst/>
            <a:rect l="l" t="t" r="r" b="b"/>
            <a:pathLst>
              <a:path w="5181600" h="3054350">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0E7C86"/>
          </a:solidFill>
          <a:ln/>
        </p:spPr>
      </p:sp>
      <p:sp>
        <p:nvSpPr>
          <p:cNvPr id="11" name="Text 9"/>
          <p:cNvSpPr/>
          <p:nvPr/>
        </p:nvSpPr>
        <p:spPr>
          <a:xfrm>
            <a:off x="1066800" y="2206625"/>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E7C86"/>
                </a:solidFill>
                <a:latin typeface="Inter" pitchFamily="34" charset="0"/>
                <a:ea typeface="Inter" pitchFamily="34" charset="-122"/>
                <a:cs typeface="Inter" pitchFamily="34" charset="-120"/>
              </a:rPr>
              <a:t>Proposed System</a:t>
            </a:r>
            <a:endParaRPr lang="en-US" sz="2000" dirty="0"/>
          </a:p>
        </p:txBody>
      </p:sp>
      <p:sp>
        <p:nvSpPr>
          <p:cNvPr id="12" name="Text 10"/>
          <p:cNvSpPr/>
          <p:nvPr/>
        </p:nvSpPr>
        <p:spPr>
          <a:xfrm>
            <a:off x="1137158" y="2638425"/>
            <a:ext cx="4735830" cy="2087463"/>
          </a:xfrm>
          <a:prstGeom prst="rect">
            <a:avLst/>
          </a:prstGeom>
          <a:noFill/>
          <a:ln/>
        </p:spPr>
        <p:txBody>
          <a:bodyPr wrap="square" lIns="0" tIns="0" rIns="0" bIns="0" rtlCol="0" anchor="t">
            <a:normAutofit/>
          </a:bodyPr>
          <a:lstStyle/>
          <a:p>
            <a:pPr algn="l" marL="183642" indent="-183642">
              <a:lnSpc>
                <a:spcPts val="2320"/>
              </a:lnSpc>
              <a:buSzPct val="100000"/>
              <a:buChar char="•"/>
            </a:pPr>
            <a:r>
              <a:rPr lang="en-US" sz="1600" dirty="0">
                <a:solidFill>
                  <a:srgbClr val="14202E"/>
                </a:solidFill>
                <a:latin typeface="Inter" pitchFamily="34" charset="0"/>
                <a:ea typeface="Inter" pitchFamily="34" charset="-122"/>
                <a:cs typeface="Inter" pitchFamily="34" charset="-120"/>
              </a:rPr>
              <a:t>Works on live CCTV / webcam or recorded video</a:t>
            </a:r>
            <a:endParaRPr lang="en-US" sz="1600" dirty="0"/>
          </a:p>
          <a:p>
            <a:pPr algn="l" marL="183642" indent="-183642">
              <a:lnSpc>
                <a:spcPts val="2320"/>
              </a:lnSpc>
              <a:buSzPct val="100000"/>
              <a:buChar char="•"/>
            </a:pPr>
            <a:r>
              <a:rPr lang="en-US" sz="1600" dirty="0">
                <a:solidFill>
                  <a:srgbClr val="14202E"/>
                </a:solidFill>
                <a:latin typeface="Inter" pitchFamily="34" charset="0"/>
                <a:ea typeface="Inter" pitchFamily="34" charset="-122"/>
                <a:cs typeface="Inter" pitchFamily="34" charset="-120"/>
              </a:rPr>
              <a:t>Detects students, phones, face and head landmarks</a:t>
            </a:r>
            <a:endParaRPr lang="en-US" sz="1600" dirty="0"/>
          </a:p>
          <a:p>
            <a:pPr algn="l" marL="183642" indent="-183642">
              <a:lnSpc>
                <a:spcPts val="2320"/>
              </a:lnSpc>
              <a:buSzPct val="100000"/>
              <a:buChar char="•"/>
            </a:pPr>
            <a:r>
              <a:rPr lang="en-US" sz="1600" dirty="0">
                <a:solidFill>
                  <a:srgbClr val="14202E"/>
                </a:solidFill>
                <a:latin typeface="Inter" pitchFamily="34" charset="0"/>
                <a:ea typeface="Inter" pitchFamily="34" charset="-122"/>
                <a:cs typeface="Inter" pitchFamily="34" charset="-120"/>
              </a:rPr>
              <a:t>Multi-frame rules confirm a pattern before alerting</a:t>
            </a:r>
            <a:endParaRPr lang="en-US" sz="1600" dirty="0"/>
          </a:p>
          <a:p>
            <a:pPr algn="l" marL="183642" indent="-183642">
              <a:lnSpc>
                <a:spcPts val="2320"/>
              </a:lnSpc>
              <a:buSzPct val="100000"/>
              <a:buChar char="•"/>
            </a:pPr>
            <a:r>
              <a:rPr lang="en-US" sz="1600" dirty="0">
                <a:solidFill>
                  <a:srgbClr val="14202E"/>
                </a:solidFill>
                <a:latin typeface="Inter" pitchFamily="34" charset="0"/>
                <a:ea typeface="Inter" pitchFamily="34" charset="-122"/>
                <a:cs typeface="Inter" pitchFamily="34" charset="-120"/>
              </a:rPr>
              <a:t>Flask dashboard with SQLite event log</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5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7C86"/>
                </a:solidFill>
                <a:latin typeface="Inter" pitchFamily="34" charset="0"/>
                <a:ea typeface="Inter" pitchFamily="34" charset="-122"/>
                <a:cs typeface="Inter" pitchFamily="34" charset="-120"/>
              </a:rPr>
              <a:t>System Architecture</a:t>
            </a:r>
            <a:endParaRPr lang="en-US" sz="3200" dirty="0"/>
          </a:p>
        </p:txBody>
      </p:sp>
      <p:sp>
        <p:nvSpPr>
          <p:cNvPr id="3" name="Shape 1"/>
          <p:cNvSpPr/>
          <p:nvPr/>
        </p:nvSpPr>
        <p:spPr>
          <a:xfrm>
            <a:off x="812800" y="1564580"/>
            <a:ext cx="2011660" cy="1927622"/>
          </a:xfrm>
          <a:prstGeom prst="roundRect">
            <a:avLst>
              <a:gd name="adj" fmla="val 3953"/>
            </a:avLst>
          </a:prstGeom>
          <a:solidFill>
            <a:srgbClr val="FFFFFF"/>
          </a:solidFill>
          <a:ln/>
        </p:spPr>
      </p:sp>
      <p:sp>
        <p:nvSpPr>
          <p:cNvPr id="4" name="Shape 2"/>
          <p:cNvSpPr/>
          <p:nvPr/>
        </p:nvSpPr>
        <p:spPr>
          <a:xfrm>
            <a:off x="812800" y="1564580"/>
            <a:ext cx="2011660" cy="1927622"/>
          </a:xfrm>
          <a:custGeom>
            <a:avLst/>
            <a:gdLst/>
            <a:ahLst/>
            <a:cxnLst/>
            <a:rect l="l" t="t" r="r" b="b"/>
            <a:pathLst>
              <a:path w="2011660" h="1927622">
                <a:moveTo>
                  <a:pt x="0" y="76200"/>
                </a:moveTo>
                <a:lnTo>
                  <a:pt x="0" y="76200"/>
                </a:lnTo>
                <a:arcTo hR="76200" wR="76200" stAng="10800000" swAng="5400000"/>
                <a:lnTo>
                  <a:pt x="1935460" y="0"/>
                </a:lnTo>
                <a:arcTo hR="76200" wR="76200" stAng="16200000" swAng="5400000"/>
                <a:lnTo>
                  <a:pt x="2011660" y="76200"/>
                </a:lnTo>
                <a:arcTo hR="25400" wR="76200" stAng="0" swAng="-5400000"/>
                <a:lnTo>
                  <a:pt x="76200" y="50800"/>
                </a:lnTo>
                <a:arcTo hR="25400" wR="76200" stAng="16200000" swAng="-5400000"/>
                <a:close/>
              </a:path>
            </a:pathLst>
          </a:custGeom>
          <a:solidFill>
            <a:srgbClr val="0E7C86"/>
          </a:solidFill>
          <a:ln/>
        </p:spPr>
      </p:sp>
      <p:sp>
        <p:nvSpPr>
          <p:cNvPr id="5" name="Text 3"/>
          <p:cNvSpPr/>
          <p:nvPr/>
        </p:nvSpPr>
        <p:spPr>
          <a:xfrm>
            <a:off x="965200" y="1767780"/>
            <a:ext cx="175806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E7C86"/>
                </a:solidFill>
                <a:latin typeface="Inter" pitchFamily="34" charset="0"/>
                <a:ea typeface="Inter" pitchFamily="34" charset="-122"/>
                <a:cs typeface="Inter" pitchFamily="34" charset="-120"/>
              </a:rPr>
              <a:t>1</a:t>
            </a:r>
            <a:endParaRPr lang="en-US" sz="1500" dirty="0"/>
          </a:p>
        </p:txBody>
      </p:sp>
      <p:sp>
        <p:nvSpPr>
          <p:cNvPr id="6" name="Text 4"/>
          <p:cNvSpPr/>
          <p:nvPr/>
        </p:nvSpPr>
        <p:spPr>
          <a:xfrm>
            <a:off x="965200" y="2110680"/>
            <a:ext cx="175806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02E"/>
                </a:solidFill>
                <a:latin typeface="Inter" pitchFamily="34" charset="0"/>
                <a:ea typeface="Inter" pitchFamily="34" charset="-122"/>
                <a:cs typeface="Inter" pitchFamily="34" charset="-120"/>
              </a:rPr>
              <a:t>Video Input</a:t>
            </a:r>
            <a:endParaRPr lang="en-US" sz="1500" dirty="0"/>
          </a:p>
        </p:txBody>
      </p:sp>
      <p:sp>
        <p:nvSpPr>
          <p:cNvPr id="7" name="Text 5"/>
          <p:cNvSpPr/>
          <p:nvPr/>
        </p:nvSpPr>
        <p:spPr>
          <a:xfrm>
            <a:off x="965200" y="2415480"/>
            <a:ext cx="1758066"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776"/>
                </a:solidFill>
                <a:latin typeface="Inter" pitchFamily="34" charset="0"/>
                <a:ea typeface="Inter" pitchFamily="34" charset="-122"/>
                <a:cs typeface="Inter" pitchFamily="34" charset="-120"/>
              </a:rPr>
              <a:t>Live CCTV / webcam feed or recorded footage</a:t>
            </a:r>
            <a:endParaRPr lang="en-US" sz="1300" dirty="0"/>
          </a:p>
        </p:txBody>
      </p:sp>
      <p:sp>
        <p:nvSpPr>
          <p:cNvPr id="8" name="Shape 6"/>
          <p:cNvSpPr/>
          <p:nvPr/>
        </p:nvSpPr>
        <p:spPr>
          <a:xfrm>
            <a:off x="2951460" y="1564580"/>
            <a:ext cx="2011759" cy="1927622"/>
          </a:xfrm>
          <a:prstGeom prst="roundRect">
            <a:avLst>
              <a:gd name="adj" fmla="val 3953"/>
            </a:avLst>
          </a:prstGeom>
          <a:solidFill>
            <a:srgbClr val="FFFFFF"/>
          </a:solidFill>
          <a:ln/>
        </p:spPr>
      </p:sp>
      <p:sp>
        <p:nvSpPr>
          <p:cNvPr id="9" name="Shape 7"/>
          <p:cNvSpPr/>
          <p:nvPr/>
        </p:nvSpPr>
        <p:spPr>
          <a:xfrm>
            <a:off x="2951460" y="1564580"/>
            <a:ext cx="2011759" cy="1927622"/>
          </a:xfrm>
          <a:custGeom>
            <a:avLst/>
            <a:gdLst/>
            <a:ahLst/>
            <a:cxnLst/>
            <a:rect l="l" t="t" r="r" b="b"/>
            <a:pathLst>
              <a:path w="2011759" h="1927622">
                <a:moveTo>
                  <a:pt x="0" y="76200"/>
                </a:moveTo>
                <a:lnTo>
                  <a:pt x="0" y="76200"/>
                </a:lnTo>
                <a:arcTo hR="76200" wR="76200" stAng="10800000" swAng="5400000"/>
                <a:lnTo>
                  <a:pt x="1935559" y="0"/>
                </a:lnTo>
                <a:arcTo hR="76200" wR="76200" stAng="16200000" swAng="5400000"/>
                <a:lnTo>
                  <a:pt x="2011759" y="76200"/>
                </a:lnTo>
                <a:arcTo hR="25400" wR="76200" stAng="0" swAng="-5400000"/>
                <a:lnTo>
                  <a:pt x="76200" y="50800"/>
                </a:lnTo>
                <a:arcTo hR="25400" wR="76200" stAng="16200000" swAng="-5400000"/>
                <a:close/>
              </a:path>
            </a:pathLst>
          </a:custGeom>
          <a:solidFill>
            <a:srgbClr val="0E7C86"/>
          </a:solidFill>
          <a:ln/>
        </p:spPr>
      </p:sp>
      <p:sp>
        <p:nvSpPr>
          <p:cNvPr id="10" name="Text 8"/>
          <p:cNvSpPr/>
          <p:nvPr/>
        </p:nvSpPr>
        <p:spPr>
          <a:xfrm>
            <a:off x="3103860" y="1767780"/>
            <a:ext cx="175816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E7C86"/>
                </a:solidFill>
                <a:latin typeface="Inter" pitchFamily="34" charset="0"/>
                <a:ea typeface="Inter" pitchFamily="34" charset="-122"/>
                <a:cs typeface="Inter" pitchFamily="34" charset="-120"/>
              </a:rPr>
              <a:t>2</a:t>
            </a:r>
            <a:endParaRPr lang="en-US" sz="1500" dirty="0"/>
          </a:p>
        </p:txBody>
      </p:sp>
      <p:sp>
        <p:nvSpPr>
          <p:cNvPr id="11" name="Text 9"/>
          <p:cNvSpPr/>
          <p:nvPr/>
        </p:nvSpPr>
        <p:spPr>
          <a:xfrm>
            <a:off x="3103860" y="2110680"/>
            <a:ext cx="175816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02E"/>
                </a:solidFill>
                <a:latin typeface="Inter" pitchFamily="34" charset="0"/>
                <a:ea typeface="Inter" pitchFamily="34" charset="-122"/>
                <a:cs typeface="Inter" pitchFamily="34" charset="-120"/>
              </a:rPr>
              <a:t>Detection</a:t>
            </a:r>
            <a:endParaRPr lang="en-US" sz="1500" dirty="0"/>
          </a:p>
        </p:txBody>
      </p:sp>
      <p:sp>
        <p:nvSpPr>
          <p:cNvPr id="12" name="Text 10"/>
          <p:cNvSpPr/>
          <p:nvPr/>
        </p:nvSpPr>
        <p:spPr>
          <a:xfrm>
            <a:off x="3103860" y="2415480"/>
            <a:ext cx="1758168"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776"/>
                </a:solidFill>
                <a:latin typeface="Inter" pitchFamily="34" charset="0"/>
                <a:ea typeface="Inter" pitchFamily="34" charset="-122"/>
                <a:cs typeface="Inter" pitchFamily="34" charset="-120"/>
              </a:rPr>
              <a:t>Student, phone and face/head landmarks per frame</a:t>
            </a:r>
            <a:endParaRPr lang="en-US" sz="1300" dirty="0"/>
          </a:p>
        </p:txBody>
      </p:sp>
      <p:sp>
        <p:nvSpPr>
          <p:cNvPr id="13" name="Shape 11"/>
          <p:cNvSpPr/>
          <p:nvPr/>
        </p:nvSpPr>
        <p:spPr>
          <a:xfrm>
            <a:off x="5090220" y="1564580"/>
            <a:ext cx="2011660" cy="1927622"/>
          </a:xfrm>
          <a:prstGeom prst="roundRect">
            <a:avLst>
              <a:gd name="adj" fmla="val 3953"/>
            </a:avLst>
          </a:prstGeom>
          <a:solidFill>
            <a:srgbClr val="FFFFFF"/>
          </a:solidFill>
          <a:ln/>
        </p:spPr>
      </p:sp>
      <p:sp>
        <p:nvSpPr>
          <p:cNvPr id="14" name="Shape 12"/>
          <p:cNvSpPr/>
          <p:nvPr/>
        </p:nvSpPr>
        <p:spPr>
          <a:xfrm>
            <a:off x="5090220" y="1564580"/>
            <a:ext cx="2011660" cy="1927622"/>
          </a:xfrm>
          <a:custGeom>
            <a:avLst/>
            <a:gdLst/>
            <a:ahLst/>
            <a:cxnLst/>
            <a:rect l="l" t="t" r="r" b="b"/>
            <a:pathLst>
              <a:path w="2011660" h="1927622">
                <a:moveTo>
                  <a:pt x="0" y="76200"/>
                </a:moveTo>
                <a:lnTo>
                  <a:pt x="0" y="76200"/>
                </a:lnTo>
                <a:arcTo hR="76200" wR="76200" stAng="10800000" swAng="5400000"/>
                <a:lnTo>
                  <a:pt x="1935460" y="0"/>
                </a:lnTo>
                <a:arcTo hR="76200" wR="76200" stAng="16200000" swAng="5400000"/>
                <a:lnTo>
                  <a:pt x="2011660" y="76200"/>
                </a:lnTo>
                <a:arcTo hR="25400" wR="76200" stAng="0" swAng="-5400000"/>
                <a:lnTo>
                  <a:pt x="76200" y="50800"/>
                </a:lnTo>
                <a:arcTo hR="25400" wR="76200" stAng="16200000" swAng="-5400000"/>
                <a:close/>
              </a:path>
            </a:pathLst>
          </a:custGeom>
          <a:solidFill>
            <a:srgbClr val="0E7C86"/>
          </a:solidFill>
          <a:ln/>
        </p:spPr>
      </p:sp>
      <p:sp>
        <p:nvSpPr>
          <p:cNvPr id="15" name="Text 13"/>
          <p:cNvSpPr/>
          <p:nvPr/>
        </p:nvSpPr>
        <p:spPr>
          <a:xfrm>
            <a:off x="5242620" y="1767780"/>
            <a:ext cx="175806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E7C86"/>
                </a:solidFill>
                <a:latin typeface="Inter" pitchFamily="34" charset="0"/>
                <a:ea typeface="Inter" pitchFamily="34" charset="-122"/>
                <a:cs typeface="Inter" pitchFamily="34" charset="-120"/>
              </a:rPr>
              <a:t>3</a:t>
            </a:r>
            <a:endParaRPr lang="en-US" sz="1500" dirty="0"/>
          </a:p>
        </p:txBody>
      </p:sp>
      <p:sp>
        <p:nvSpPr>
          <p:cNvPr id="16" name="Text 14"/>
          <p:cNvSpPr/>
          <p:nvPr/>
        </p:nvSpPr>
        <p:spPr>
          <a:xfrm>
            <a:off x="5242620" y="2110680"/>
            <a:ext cx="175806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02E"/>
                </a:solidFill>
                <a:latin typeface="Inter" pitchFamily="34" charset="0"/>
                <a:ea typeface="Inter" pitchFamily="34" charset="-122"/>
                <a:cs typeface="Inter" pitchFamily="34" charset="-120"/>
              </a:rPr>
              <a:t>Behavior Analysis</a:t>
            </a:r>
            <a:endParaRPr lang="en-US" sz="1500" dirty="0"/>
          </a:p>
        </p:txBody>
      </p:sp>
      <p:sp>
        <p:nvSpPr>
          <p:cNvPr id="17" name="Text 15"/>
          <p:cNvSpPr/>
          <p:nvPr/>
        </p:nvSpPr>
        <p:spPr>
          <a:xfrm>
            <a:off x="5242620" y="2415480"/>
            <a:ext cx="1758066"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776"/>
                </a:solidFill>
                <a:latin typeface="Inter" pitchFamily="34" charset="0"/>
                <a:ea typeface="Inter" pitchFamily="34" charset="-122"/>
                <a:cs typeface="Inter" pitchFamily="34" charset="-120"/>
              </a:rPr>
              <a:t>Signals combined across frames against rule thresholds</a:t>
            </a:r>
            <a:endParaRPr lang="en-US" sz="1300" dirty="0"/>
          </a:p>
        </p:txBody>
      </p:sp>
      <p:sp>
        <p:nvSpPr>
          <p:cNvPr id="18" name="Shape 16"/>
          <p:cNvSpPr/>
          <p:nvPr/>
        </p:nvSpPr>
        <p:spPr>
          <a:xfrm>
            <a:off x="7228880" y="1564580"/>
            <a:ext cx="2011660" cy="1927622"/>
          </a:xfrm>
          <a:prstGeom prst="roundRect">
            <a:avLst>
              <a:gd name="adj" fmla="val 3953"/>
            </a:avLst>
          </a:prstGeom>
          <a:solidFill>
            <a:srgbClr val="FFFFFF"/>
          </a:solidFill>
          <a:ln/>
        </p:spPr>
      </p:sp>
      <p:sp>
        <p:nvSpPr>
          <p:cNvPr id="19" name="Shape 17"/>
          <p:cNvSpPr/>
          <p:nvPr/>
        </p:nvSpPr>
        <p:spPr>
          <a:xfrm>
            <a:off x="7228880" y="1564580"/>
            <a:ext cx="2011660" cy="1927622"/>
          </a:xfrm>
          <a:custGeom>
            <a:avLst/>
            <a:gdLst/>
            <a:ahLst/>
            <a:cxnLst/>
            <a:rect l="l" t="t" r="r" b="b"/>
            <a:pathLst>
              <a:path w="2011660" h="1927622">
                <a:moveTo>
                  <a:pt x="0" y="76200"/>
                </a:moveTo>
                <a:lnTo>
                  <a:pt x="0" y="76200"/>
                </a:lnTo>
                <a:arcTo hR="76200" wR="76200" stAng="10800000" swAng="5400000"/>
                <a:lnTo>
                  <a:pt x="1935460" y="0"/>
                </a:lnTo>
                <a:arcTo hR="76200" wR="76200" stAng="16200000" swAng="5400000"/>
                <a:lnTo>
                  <a:pt x="2011660" y="76200"/>
                </a:lnTo>
                <a:arcTo hR="25400" wR="76200" stAng="0" swAng="-5400000"/>
                <a:lnTo>
                  <a:pt x="76200" y="50800"/>
                </a:lnTo>
                <a:arcTo hR="25400" wR="76200" stAng="16200000" swAng="-5400000"/>
                <a:close/>
              </a:path>
            </a:pathLst>
          </a:custGeom>
          <a:solidFill>
            <a:srgbClr val="0E7C86"/>
          </a:solidFill>
          <a:ln/>
        </p:spPr>
      </p:sp>
      <p:sp>
        <p:nvSpPr>
          <p:cNvPr id="20" name="Text 18"/>
          <p:cNvSpPr/>
          <p:nvPr/>
        </p:nvSpPr>
        <p:spPr>
          <a:xfrm>
            <a:off x="7381280" y="1767780"/>
            <a:ext cx="175806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E7C86"/>
                </a:solidFill>
                <a:latin typeface="Inter" pitchFamily="34" charset="0"/>
                <a:ea typeface="Inter" pitchFamily="34" charset="-122"/>
                <a:cs typeface="Inter" pitchFamily="34" charset="-120"/>
              </a:rPr>
              <a:t>4</a:t>
            </a:r>
            <a:endParaRPr lang="en-US" sz="1500" dirty="0"/>
          </a:p>
        </p:txBody>
      </p:sp>
      <p:sp>
        <p:nvSpPr>
          <p:cNvPr id="21" name="Text 19"/>
          <p:cNvSpPr/>
          <p:nvPr/>
        </p:nvSpPr>
        <p:spPr>
          <a:xfrm>
            <a:off x="7381280" y="2110680"/>
            <a:ext cx="175806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02E"/>
                </a:solidFill>
                <a:latin typeface="Inter" pitchFamily="34" charset="0"/>
                <a:ea typeface="Inter" pitchFamily="34" charset="-122"/>
                <a:cs typeface="Inter" pitchFamily="34" charset="-120"/>
              </a:rPr>
              <a:t>Alert + Log</a:t>
            </a:r>
            <a:endParaRPr lang="en-US" sz="1500" dirty="0"/>
          </a:p>
        </p:txBody>
      </p:sp>
      <p:sp>
        <p:nvSpPr>
          <p:cNvPr id="22" name="Text 20"/>
          <p:cNvSpPr/>
          <p:nvPr/>
        </p:nvSpPr>
        <p:spPr>
          <a:xfrm>
            <a:off x="7381280" y="2415480"/>
            <a:ext cx="1758066"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776"/>
                </a:solidFill>
                <a:latin typeface="Inter" pitchFamily="34" charset="0"/>
                <a:ea typeface="Inter" pitchFamily="34" charset="-122"/>
                <a:cs typeface="Inter" pitchFamily="34" charset="-120"/>
              </a:rPr>
              <a:t>Event raised, timestamped and stored</a:t>
            </a:r>
            <a:endParaRPr lang="en-US" sz="1300" dirty="0"/>
          </a:p>
        </p:txBody>
      </p:sp>
      <p:sp>
        <p:nvSpPr>
          <p:cNvPr id="23" name="Shape 21"/>
          <p:cNvSpPr/>
          <p:nvPr/>
        </p:nvSpPr>
        <p:spPr>
          <a:xfrm>
            <a:off x="9367540" y="1564580"/>
            <a:ext cx="2011660" cy="1927622"/>
          </a:xfrm>
          <a:prstGeom prst="roundRect">
            <a:avLst>
              <a:gd name="adj" fmla="val 3953"/>
            </a:avLst>
          </a:prstGeom>
          <a:solidFill>
            <a:srgbClr val="FFFFFF"/>
          </a:solidFill>
          <a:ln/>
        </p:spPr>
      </p:sp>
      <p:sp>
        <p:nvSpPr>
          <p:cNvPr id="24" name="Shape 22"/>
          <p:cNvSpPr/>
          <p:nvPr/>
        </p:nvSpPr>
        <p:spPr>
          <a:xfrm>
            <a:off x="9367540" y="1564580"/>
            <a:ext cx="2011660" cy="1927622"/>
          </a:xfrm>
          <a:custGeom>
            <a:avLst/>
            <a:gdLst/>
            <a:ahLst/>
            <a:cxnLst/>
            <a:rect l="l" t="t" r="r" b="b"/>
            <a:pathLst>
              <a:path w="2011660" h="1927622">
                <a:moveTo>
                  <a:pt x="0" y="76200"/>
                </a:moveTo>
                <a:lnTo>
                  <a:pt x="0" y="76200"/>
                </a:lnTo>
                <a:arcTo hR="76200" wR="76200" stAng="10800000" swAng="5400000"/>
                <a:lnTo>
                  <a:pt x="1935460" y="0"/>
                </a:lnTo>
                <a:arcTo hR="76200" wR="76200" stAng="16200000" swAng="5400000"/>
                <a:lnTo>
                  <a:pt x="2011660" y="76200"/>
                </a:lnTo>
                <a:arcTo hR="25400" wR="76200" stAng="0" swAng="-5400000"/>
                <a:lnTo>
                  <a:pt x="76200" y="50800"/>
                </a:lnTo>
                <a:arcTo hR="25400" wR="76200" stAng="16200000" swAng="-5400000"/>
                <a:close/>
              </a:path>
            </a:pathLst>
          </a:custGeom>
          <a:solidFill>
            <a:srgbClr val="0E7C86"/>
          </a:solidFill>
          <a:ln/>
        </p:spPr>
      </p:sp>
      <p:sp>
        <p:nvSpPr>
          <p:cNvPr id="25" name="Text 23"/>
          <p:cNvSpPr/>
          <p:nvPr/>
        </p:nvSpPr>
        <p:spPr>
          <a:xfrm>
            <a:off x="9519940" y="1767780"/>
            <a:ext cx="175806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E7C86"/>
                </a:solidFill>
                <a:latin typeface="Inter" pitchFamily="34" charset="0"/>
                <a:ea typeface="Inter" pitchFamily="34" charset="-122"/>
                <a:cs typeface="Inter" pitchFamily="34" charset="-120"/>
              </a:rPr>
              <a:t>5</a:t>
            </a:r>
            <a:endParaRPr lang="en-US" sz="1500" dirty="0"/>
          </a:p>
        </p:txBody>
      </p:sp>
      <p:sp>
        <p:nvSpPr>
          <p:cNvPr id="26" name="Text 24"/>
          <p:cNvSpPr/>
          <p:nvPr/>
        </p:nvSpPr>
        <p:spPr>
          <a:xfrm>
            <a:off x="9519940" y="2110680"/>
            <a:ext cx="175806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02E"/>
                </a:solidFill>
                <a:latin typeface="Inter" pitchFamily="34" charset="0"/>
                <a:ea typeface="Inter" pitchFamily="34" charset="-122"/>
                <a:cs typeface="Inter" pitchFamily="34" charset="-120"/>
              </a:rPr>
              <a:t>Invigilator Review</a:t>
            </a:r>
            <a:endParaRPr lang="en-US" sz="1500" dirty="0"/>
          </a:p>
        </p:txBody>
      </p:sp>
      <p:sp>
        <p:nvSpPr>
          <p:cNvPr id="27" name="Text 25"/>
          <p:cNvSpPr/>
          <p:nvPr/>
        </p:nvSpPr>
        <p:spPr>
          <a:xfrm>
            <a:off x="9519940" y="2415480"/>
            <a:ext cx="1758066"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776"/>
                </a:solidFill>
                <a:latin typeface="Inter" pitchFamily="34" charset="0"/>
                <a:ea typeface="Inter" pitchFamily="34" charset="-122"/>
                <a:cs typeface="Inter" pitchFamily="34" charset="-120"/>
              </a:rPr>
              <a:t>Human confirms the event on the dashboard</a:t>
            </a:r>
            <a:endParaRPr lang="en-US" sz="1300" dirty="0"/>
          </a:p>
        </p:txBody>
      </p:sp>
      <p:sp>
        <p:nvSpPr>
          <p:cNvPr id="28" name="Text 26"/>
          <p:cNvSpPr/>
          <p:nvPr/>
        </p:nvSpPr>
        <p:spPr>
          <a:xfrm>
            <a:off x="812800" y="3797002"/>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B6776"/>
                </a:solidFill>
                <a:latin typeface="Inter" pitchFamily="34" charset="0"/>
                <a:ea typeface="Inter" pitchFamily="34" charset="-122"/>
                <a:cs typeface="Inter" pitchFamily="34" charset="-120"/>
              </a:rPr>
              <a:t>Python, OpenCV, YOLO and MediaPipe process the video; a Flask web dashboard with an SQLite event log serves the invigilator. The pipeline never decides on a single frame.</a:t>
            </a:r>
            <a:endParaRPr lang="en-US" sz="1500" dirty="0"/>
          </a:p>
        </p:txBody>
      </p:sp>
      <p:sp>
        <p:nvSpPr>
          <p:cNvPr id="29" name="Text 27"/>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6"/>
                </a:solidFill>
                <a:latin typeface="Inter" pitchFamily="34" charset="0"/>
                <a:ea typeface="Inter" pitchFamily="34" charset="-122"/>
                <a:cs typeface="Inter" pitchFamily="34" charset="-120"/>
              </a:rPr>
              <a:t>Smart Surveillance System · Major Project Phase-1 · Review-2</a:t>
            </a:r>
            <a:endParaRPr lang="en-US" sz="1200" dirty="0"/>
          </a:p>
        </p:txBody>
      </p:sp>
      <p:sp>
        <p:nvSpPr>
          <p:cNvPr id="30" name="Text 28"/>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6"/>
                </a:solidFill>
                <a:latin typeface="Inter" pitchFamily="34" charset="0"/>
                <a:ea typeface="Inter" pitchFamily="34" charset="-122"/>
                <a:cs typeface="Inte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5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7C86"/>
                </a:solidFill>
                <a:latin typeface="Inter" pitchFamily="34" charset="0"/>
                <a:ea typeface="Inter" pitchFamily="34" charset="-122"/>
                <a:cs typeface="Inter" pitchFamily="34" charset="-120"/>
              </a:rPr>
              <a:t>Modules</a:t>
            </a:r>
            <a:endParaRPr lang="en-US" sz="3200" dirty="0"/>
          </a:p>
        </p:txBody>
      </p:sp>
      <p:sp>
        <p:nvSpPr>
          <p:cNvPr id="3" name="Shape 1"/>
          <p:cNvSpPr/>
          <p:nvPr/>
        </p:nvSpPr>
        <p:spPr>
          <a:xfrm>
            <a:off x="812800" y="1564580"/>
            <a:ext cx="3420467" cy="1125041"/>
          </a:xfrm>
          <a:prstGeom prst="roundRect">
            <a:avLst>
              <a:gd name="adj" fmla="val 9031"/>
            </a:avLst>
          </a:prstGeom>
          <a:solidFill>
            <a:srgbClr val="FFFFFF"/>
          </a:solidFill>
          <a:ln/>
        </p:spPr>
      </p:sp>
      <p:sp>
        <p:nvSpPr>
          <p:cNvPr id="4" name="Text 2"/>
          <p:cNvSpPr/>
          <p:nvPr/>
        </p:nvSpPr>
        <p:spPr>
          <a:xfrm>
            <a:off x="990600" y="1742380"/>
            <a:ext cx="315681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7C86"/>
                </a:solidFill>
                <a:latin typeface="Inter" pitchFamily="34" charset="0"/>
                <a:ea typeface="Inter" pitchFamily="34" charset="-122"/>
                <a:cs typeface="Inter" pitchFamily="34" charset="-120"/>
              </a:rPr>
              <a:t>1. Video Input</a:t>
            </a:r>
            <a:endParaRPr lang="en-US" sz="1600" dirty="0"/>
          </a:p>
        </p:txBody>
      </p:sp>
      <p:sp>
        <p:nvSpPr>
          <p:cNvPr id="5" name="Text 3"/>
          <p:cNvSpPr/>
          <p:nvPr/>
        </p:nvSpPr>
        <p:spPr>
          <a:xfrm>
            <a:off x="990600" y="2049661"/>
            <a:ext cx="315681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02E"/>
                </a:solidFill>
                <a:latin typeface="Inter" pitchFamily="34" charset="0"/>
                <a:ea typeface="Inter" pitchFamily="34" charset="-122"/>
                <a:cs typeface="Inter" pitchFamily="34" charset="-120"/>
              </a:rPr>
              <a:t>Webcam / CCTV live feed, optional recorded video</a:t>
            </a:r>
            <a:endParaRPr lang="en-US" sz="1300" dirty="0"/>
          </a:p>
        </p:txBody>
      </p:sp>
      <p:sp>
        <p:nvSpPr>
          <p:cNvPr id="6" name="Shape 4"/>
          <p:cNvSpPr/>
          <p:nvPr/>
        </p:nvSpPr>
        <p:spPr>
          <a:xfrm>
            <a:off x="4385667" y="1564580"/>
            <a:ext cx="3420566" cy="1125041"/>
          </a:xfrm>
          <a:prstGeom prst="roundRect">
            <a:avLst>
              <a:gd name="adj" fmla="val 9031"/>
            </a:avLst>
          </a:prstGeom>
          <a:solidFill>
            <a:srgbClr val="FFFFFF"/>
          </a:solidFill>
          <a:ln/>
        </p:spPr>
      </p:sp>
      <p:sp>
        <p:nvSpPr>
          <p:cNvPr id="7" name="Text 5"/>
          <p:cNvSpPr/>
          <p:nvPr/>
        </p:nvSpPr>
        <p:spPr>
          <a:xfrm>
            <a:off x="4563467" y="1742380"/>
            <a:ext cx="315691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7C86"/>
                </a:solidFill>
                <a:latin typeface="Inter" pitchFamily="34" charset="0"/>
                <a:ea typeface="Inter" pitchFamily="34" charset="-122"/>
                <a:cs typeface="Inter" pitchFamily="34" charset="-120"/>
              </a:rPr>
              <a:t>2. Student Detection</a:t>
            </a:r>
            <a:endParaRPr lang="en-US" sz="1600" dirty="0"/>
          </a:p>
        </p:txBody>
      </p:sp>
      <p:sp>
        <p:nvSpPr>
          <p:cNvPr id="8" name="Text 6"/>
          <p:cNvSpPr/>
          <p:nvPr/>
        </p:nvSpPr>
        <p:spPr>
          <a:xfrm>
            <a:off x="4563467" y="2049661"/>
            <a:ext cx="315691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02E"/>
                </a:solidFill>
                <a:latin typeface="Inter" pitchFamily="34" charset="0"/>
                <a:ea typeface="Inter" pitchFamily="34" charset="-122"/>
                <a:cs typeface="Inter" pitchFamily="34" charset="-120"/>
              </a:rPr>
              <a:t>Locates each student, assigns a temporary tracking ID</a:t>
            </a:r>
            <a:endParaRPr lang="en-US" sz="1300" dirty="0"/>
          </a:p>
        </p:txBody>
      </p:sp>
      <p:sp>
        <p:nvSpPr>
          <p:cNvPr id="9" name="Shape 7"/>
          <p:cNvSpPr/>
          <p:nvPr/>
        </p:nvSpPr>
        <p:spPr>
          <a:xfrm>
            <a:off x="7958634" y="1564580"/>
            <a:ext cx="3420566" cy="1125041"/>
          </a:xfrm>
          <a:prstGeom prst="roundRect">
            <a:avLst>
              <a:gd name="adj" fmla="val 9031"/>
            </a:avLst>
          </a:prstGeom>
          <a:solidFill>
            <a:srgbClr val="FFFFFF"/>
          </a:solidFill>
          <a:ln/>
        </p:spPr>
      </p:sp>
      <p:sp>
        <p:nvSpPr>
          <p:cNvPr id="10" name="Text 8"/>
          <p:cNvSpPr/>
          <p:nvPr/>
        </p:nvSpPr>
        <p:spPr>
          <a:xfrm>
            <a:off x="8136434" y="1742380"/>
            <a:ext cx="315691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7C86"/>
                </a:solidFill>
                <a:latin typeface="Inter" pitchFamily="34" charset="0"/>
                <a:ea typeface="Inter" pitchFamily="34" charset="-122"/>
                <a:cs typeface="Inter" pitchFamily="34" charset="-120"/>
              </a:rPr>
              <a:t>3. Phone Detection</a:t>
            </a:r>
            <a:endParaRPr lang="en-US" sz="1600" dirty="0"/>
          </a:p>
        </p:txBody>
      </p:sp>
      <p:sp>
        <p:nvSpPr>
          <p:cNvPr id="11" name="Text 9"/>
          <p:cNvSpPr/>
          <p:nvPr/>
        </p:nvSpPr>
        <p:spPr>
          <a:xfrm>
            <a:off x="8136434" y="2049661"/>
            <a:ext cx="315691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02E"/>
                </a:solidFill>
                <a:latin typeface="Inter" pitchFamily="34" charset="0"/>
                <a:ea typeface="Inter" pitchFamily="34" charset="-122"/>
                <a:cs typeface="Inter" pitchFamily="34" charset="-120"/>
              </a:rPr>
              <a:t>Object detector flags a visible mobile phone</a:t>
            </a:r>
            <a:endParaRPr lang="en-US" sz="1300" dirty="0"/>
          </a:p>
        </p:txBody>
      </p:sp>
      <p:sp>
        <p:nvSpPr>
          <p:cNvPr id="12" name="Shape 10"/>
          <p:cNvSpPr/>
          <p:nvPr/>
        </p:nvSpPr>
        <p:spPr>
          <a:xfrm>
            <a:off x="812800" y="2842022"/>
            <a:ext cx="3420467" cy="1125041"/>
          </a:xfrm>
          <a:prstGeom prst="roundRect">
            <a:avLst>
              <a:gd name="adj" fmla="val 9031"/>
            </a:avLst>
          </a:prstGeom>
          <a:solidFill>
            <a:srgbClr val="FFFFFF"/>
          </a:solidFill>
          <a:ln/>
        </p:spPr>
      </p:sp>
      <p:sp>
        <p:nvSpPr>
          <p:cNvPr id="13" name="Text 11"/>
          <p:cNvSpPr/>
          <p:nvPr/>
        </p:nvSpPr>
        <p:spPr>
          <a:xfrm>
            <a:off x="990600" y="3019822"/>
            <a:ext cx="315681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7C86"/>
                </a:solidFill>
                <a:latin typeface="Inter" pitchFamily="34" charset="0"/>
                <a:ea typeface="Inter" pitchFamily="34" charset="-122"/>
                <a:cs typeface="Inter" pitchFamily="34" charset="-120"/>
              </a:rPr>
              <a:t>4. Face &amp; Head Analysis</a:t>
            </a:r>
            <a:endParaRPr lang="en-US" sz="1600" dirty="0"/>
          </a:p>
        </p:txBody>
      </p:sp>
      <p:sp>
        <p:nvSpPr>
          <p:cNvPr id="14" name="Text 12"/>
          <p:cNvSpPr/>
          <p:nvPr/>
        </p:nvSpPr>
        <p:spPr>
          <a:xfrm>
            <a:off x="990600" y="3327102"/>
            <a:ext cx="315681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02E"/>
                </a:solidFill>
                <a:latin typeface="Inter" pitchFamily="34" charset="0"/>
                <a:ea typeface="Inter" pitchFamily="34" charset="-122"/>
                <a:cs typeface="Inter" pitchFamily="34" charset="-120"/>
              </a:rPr>
              <a:t>Head orientation and landmark tracking</a:t>
            </a:r>
            <a:endParaRPr lang="en-US" sz="1300" dirty="0"/>
          </a:p>
        </p:txBody>
      </p:sp>
      <p:sp>
        <p:nvSpPr>
          <p:cNvPr id="15" name="Shape 13"/>
          <p:cNvSpPr/>
          <p:nvPr/>
        </p:nvSpPr>
        <p:spPr>
          <a:xfrm>
            <a:off x="4385667" y="2842022"/>
            <a:ext cx="3420566" cy="1125041"/>
          </a:xfrm>
          <a:prstGeom prst="roundRect">
            <a:avLst>
              <a:gd name="adj" fmla="val 9031"/>
            </a:avLst>
          </a:prstGeom>
          <a:solidFill>
            <a:srgbClr val="FFFFFF"/>
          </a:solidFill>
          <a:ln/>
        </p:spPr>
      </p:sp>
      <p:sp>
        <p:nvSpPr>
          <p:cNvPr id="16" name="Text 14"/>
          <p:cNvSpPr/>
          <p:nvPr/>
        </p:nvSpPr>
        <p:spPr>
          <a:xfrm>
            <a:off x="4563467" y="3019822"/>
            <a:ext cx="315691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7C86"/>
                </a:solidFill>
                <a:latin typeface="Inter" pitchFamily="34" charset="0"/>
                <a:ea typeface="Inter" pitchFamily="34" charset="-122"/>
                <a:cs typeface="Inter" pitchFamily="34" charset="-120"/>
              </a:rPr>
              <a:t>5. Behavior Analysis</a:t>
            </a:r>
            <a:endParaRPr lang="en-US" sz="1600" dirty="0"/>
          </a:p>
        </p:txBody>
      </p:sp>
      <p:sp>
        <p:nvSpPr>
          <p:cNvPr id="17" name="Text 15"/>
          <p:cNvSpPr/>
          <p:nvPr/>
        </p:nvSpPr>
        <p:spPr>
          <a:xfrm>
            <a:off x="4563467" y="3327102"/>
            <a:ext cx="315691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02E"/>
                </a:solidFill>
                <a:latin typeface="Inter" pitchFamily="34" charset="0"/>
                <a:ea typeface="Inter" pitchFamily="34" charset="-122"/>
                <a:cs typeface="Inter" pitchFamily="34" charset="-120"/>
              </a:rPr>
              <a:t>Multi-frame pattern check against rule thresholds</a:t>
            </a:r>
            <a:endParaRPr lang="en-US" sz="1300" dirty="0"/>
          </a:p>
        </p:txBody>
      </p:sp>
      <p:sp>
        <p:nvSpPr>
          <p:cNvPr id="18" name="Shape 16"/>
          <p:cNvSpPr/>
          <p:nvPr/>
        </p:nvSpPr>
        <p:spPr>
          <a:xfrm>
            <a:off x="7958634" y="2842022"/>
            <a:ext cx="3420566" cy="1125041"/>
          </a:xfrm>
          <a:prstGeom prst="roundRect">
            <a:avLst>
              <a:gd name="adj" fmla="val 9031"/>
            </a:avLst>
          </a:prstGeom>
          <a:solidFill>
            <a:srgbClr val="FFFFFF"/>
          </a:solidFill>
          <a:ln/>
        </p:spPr>
      </p:sp>
      <p:sp>
        <p:nvSpPr>
          <p:cNvPr id="19" name="Text 17"/>
          <p:cNvSpPr/>
          <p:nvPr/>
        </p:nvSpPr>
        <p:spPr>
          <a:xfrm>
            <a:off x="8136434" y="3019822"/>
            <a:ext cx="315691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7C86"/>
                </a:solidFill>
                <a:latin typeface="Inter" pitchFamily="34" charset="0"/>
                <a:ea typeface="Inter" pitchFamily="34" charset="-122"/>
                <a:cs typeface="Inter" pitchFamily="34" charset="-120"/>
              </a:rPr>
              <a:t>6. Alert System</a:t>
            </a:r>
            <a:endParaRPr lang="en-US" sz="1600" dirty="0"/>
          </a:p>
        </p:txBody>
      </p:sp>
      <p:sp>
        <p:nvSpPr>
          <p:cNvPr id="20" name="Text 18"/>
          <p:cNvSpPr/>
          <p:nvPr/>
        </p:nvSpPr>
        <p:spPr>
          <a:xfrm>
            <a:off x="8136434" y="3327102"/>
            <a:ext cx="315691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02E"/>
                </a:solidFill>
                <a:latin typeface="Inter" pitchFamily="34" charset="0"/>
                <a:ea typeface="Inter" pitchFamily="34" charset="-122"/>
                <a:cs typeface="Inter" pitchFamily="34" charset="-120"/>
              </a:rPr>
              <a:t>Alert, event type, timestamp, optional frame</a:t>
            </a:r>
            <a:endParaRPr lang="en-US" sz="1300" dirty="0"/>
          </a:p>
        </p:txBody>
      </p:sp>
      <p:sp>
        <p:nvSpPr>
          <p:cNvPr id="21" name="Shape 19"/>
          <p:cNvSpPr/>
          <p:nvPr/>
        </p:nvSpPr>
        <p:spPr>
          <a:xfrm>
            <a:off x="812800" y="4119463"/>
            <a:ext cx="3420467" cy="893961"/>
          </a:xfrm>
          <a:prstGeom prst="roundRect">
            <a:avLst>
              <a:gd name="adj" fmla="val 11365"/>
            </a:avLst>
          </a:prstGeom>
          <a:solidFill>
            <a:srgbClr val="FFFFFF"/>
          </a:solidFill>
          <a:ln/>
        </p:spPr>
      </p:sp>
      <p:sp>
        <p:nvSpPr>
          <p:cNvPr id="22" name="Text 20"/>
          <p:cNvSpPr/>
          <p:nvPr/>
        </p:nvSpPr>
        <p:spPr>
          <a:xfrm>
            <a:off x="990600" y="4297263"/>
            <a:ext cx="315681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7C86"/>
                </a:solidFill>
                <a:latin typeface="Inter" pitchFamily="34" charset="0"/>
                <a:ea typeface="Inter" pitchFamily="34" charset="-122"/>
                <a:cs typeface="Inter" pitchFamily="34" charset="-120"/>
              </a:rPr>
              <a:t>7. Monitoring Dashboard</a:t>
            </a:r>
            <a:endParaRPr lang="en-US" sz="1600" dirty="0"/>
          </a:p>
        </p:txBody>
      </p:sp>
      <p:sp>
        <p:nvSpPr>
          <p:cNvPr id="23" name="Text 21"/>
          <p:cNvSpPr/>
          <p:nvPr/>
        </p:nvSpPr>
        <p:spPr>
          <a:xfrm>
            <a:off x="990600" y="4604544"/>
            <a:ext cx="315681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02E"/>
                </a:solidFill>
                <a:latin typeface="Inter" pitchFamily="34" charset="0"/>
                <a:ea typeface="Inter" pitchFamily="34" charset="-122"/>
                <a:cs typeface="Inter" pitchFamily="34" charset="-120"/>
              </a:rPr>
              <a:t>Live seat-wise status and alert history</a:t>
            </a:r>
            <a:endParaRPr lang="en-US" sz="1300" dirty="0"/>
          </a:p>
        </p:txBody>
      </p:sp>
      <p:sp>
        <p:nvSpPr>
          <p:cNvPr id="24" name="Text 2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6"/>
                </a:solidFill>
                <a:latin typeface="Inter" pitchFamily="34" charset="0"/>
                <a:ea typeface="Inter" pitchFamily="34" charset="-122"/>
                <a:cs typeface="Inter" pitchFamily="34" charset="-120"/>
              </a:rPr>
              <a:t>Smart Surveillance System · Major Project Phase-1 · Review-2</a:t>
            </a:r>
            <a:endParaRPr lang="en-US" sz="1200" dirty="0"/>
          </a:p>
        </p:txBody>
      </p:sp>
      <p:sp>
        <p:nvSpPr>
          <p:cNvPr id="25" name="Text 2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6"/>
                </a:solidFill>
                <a:latin typeface="Inter" pitchFamily="34" charset="0"/>
                <a:ea typeface="Inter" pitchFamily="34" charset="-122"/>
                <a:cs typeface="Inte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5F7"/>
        </a:solidFill>
      </p:bgPr>
    </p:bg>
    <p:spTree>
      <p:nvGrpSpPr>
        <p:cNvPr id="1" name=""/>
        <p:cNvGrpSpPr/>
        <p:nvPr/>
      </p:nvGrpSpPr>
      <p:grpSpPr>
        <a:xfrm>
          <a:off x="0" y="0"/>
          <a:ext cx="0" cy="0"/>
          <a:chOff x="0" y="0"/>
          <a:chExt cx="0" cy="0"/>
        </a:xfrm>
      </p:grpSpPr>
      <p:sp>
        <p:nvSpPr>
          <p:cNvPr id="2" name="Text 0"/>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6"/>
                </a:solidFill>
                <a:latin typeface="Inter" pitchFamily="34" charset="0"/>
                <a:ea typeface="Inter" pitchFamily="34" charset="-122"/>
                <a:cs typeface="Inter" pitchFamily="34" charset="-120"/>
              </a:rPr>
              <a:t>Smart Surveillance System · Major Project Phase-1 · Review-2</a:t>
            </a:r>
            <a:endParaRPr lang="en-US" sz="1200" dirty="0"/>
          </a:p>
        </p:txBody>
      </p:sp>
      <p:sp>
        <p:nvSpPr>
          <p:cNvPr id="3" name="Text 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6"/>
                </a:solidFill>
                <a:latin typeface="Inter" pitchFamily="34" charset="0"/>
                <a:ea typeface="Inter" pitchFamily="34" charset="-122"/>
                <a:cs typeface="Inter" pitchFamily="34" charset="-120"/>
              </a:rPr>
              <a:t>12</a:t>
            </a:r>
            <a:endParaRPr lang="en-US" sz="1200" dirty="0"/>
          </a:p>
        </p:txBody>
      </p:sp>
      <p:sp>
        <p:nvSpPr>
          <p:cNvPr id="4" name="Text 2"/>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7C86"/>
                </a:solidFill>
                <a:latin typeface="Inter" pitchFamily="34" charset="0"/>
                <a:ea typeface="Inter" pitchFamily="34" charset="-122"/>
                <a:cs typeface="Inter" pitchFamily="34" charset="-120"/>
              </a:rPr>
              <a:t>Algorithms</a:t>
            </a:r>
            <a:endParaRPr lang="en-US" sz="3200" dirty="0"/>
          </a:p>
        </p:txBody>
      </p:sp>
      <p:sp>
        <p:nvSpPr>
          <p:cNvPr id="5" name="Shape 3"/>
          <p:cNvSpPr/>
          <p:nvPr/>
        </p:nvSpPr>
        <p:spPr>
          <a:xfrm>
            <a:off x="812800" y="1996182"/>
            <a:ext cx="3390900" cy="2540000"/>
          </a:xfrm>
          <a:prstGeom prst="roundRect">
            <a:avLst>
              <a:gd name="adj" fmla="val 4000"/>
            </a:avLst>
          </a:prstGeom>
          <a:solidFill>
            <a:srgbClr val="FFFFFF"/>
          </a:solidFill>
          <a:ln/>
        </p:spPr>
      </p:sp>
      <p:sp>
        <p:nvSpPr>
          <p:cNvPr id="6" name="Shape 4"/>
          <p:cNvSpPr/>
          <p:nvPr/>
        </p:nvSpPr>
        <p:spPr>
          <a:xfrm>
            <a:off x="812800" y="1996182"/>
            <a:ext cx="3390900" cy="2540000"/>
          </a:xfrm>
          <a:custGeom>
            <a:avLst/>
            <a:gdLst/>
            <a:ahLst/>
            <a:cxnLst/>
            <a:rect l="l" t="t" r="r" b="b"/>
            <a:pathLst>
              <a:path w="3390900" h="2540000">
                <a:moveTo>
                  <a:pt x="0" y="101600"/>
                </a:moveTo>
                <a:lnTo>
                  <a:pt x="0" y="101600"/>
                </a:lnTo>
                <a:arcTo hR="101600" wR="101600" stAng="10800000" swAng="5400000"/>
                <a:lnTo>
                  <a:pt x="3289300" y="0"/>
                </a:lnTo>
                <a:arcTo hR="101600" wR="101600" stAng="16200000" swAng="5400000"/>
                <a:lnTo>
                  <a:pt x="3390900" y="101600"/>
                </a:lnTo>
                <a:arcTo hR="50800" wR="101600" stAng="0" swAng="-5400000"/>
                <a:lnTo>
                  <a:pt x="101600" y="50800"/>
                </a:lnTo>
                <a:arcTo hR="50800" wR="101600" stAng="16200000" swAng="-5400000"/>
                <a:close/>
              </a:path>
            </a:pathLst>
          </a:custGeom>
          <a:solidFill>
            <a:srgbClr val="0E7C86"/>
          </a:solidFill>
          <a:ln/>
        </p:spPr>
      </p:sp>
      <p:sp>
        <p:nvSpPr>
          <p:cNvPr id="7" name="Text 5"/>
          <p:cNvSpPr/>
          <p:nvPr/>
        </p:nvSpPr>
        <p:spPr>
          <a:xfrm>
            <a:off x="1066800" y="2300982"/>
            <a:ext cx="31369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E7C86"/>
                </a:solidFill>
                <a:latin typeface="Inter" pitchFamily="34" charset="0"/>
                <a:ea typeface="Inter" pitchFamily="34" charset="-122"/>
                <a:cs typeface="Inter" pitchFamily="34" charset="-120"/>
              </a:rPr>
              <a:t>YOLO Object Detection</a:t>
            </a:r>
            <a:endParaRPr lang="en-US" sz="2000" dirty="0"/>
          </a:p>
        </p:txBody>
      </p:sp>
      <p:sp>
        <p:nvSpPr>
          <p:cNvPr id="8" name="Text 6"/>
          <p:cNvSpPr/>
          <p:nvPr/>
        </p:nvSpPr>
        <p:spPr>
          <a:xfrm>
            <a:off x="1144270" y="2732782"/>
            <a:ext cx="2884297" cy="1130300"/>
          </a:xfrm>
          <a:prstGeom prst="rect">
            <a:avLst/>
          </a:prstGeom>
          <a:noFill/>
          <a:ln/>
        </p:spPr>
        <p:txBody>
          <a:bodyPr wrap="square" lIns="0" tIns="0" rIns="0" bIns="0" rtlCol="0" anchor="t">
            <a:normAutofit/>
          </a:bodyPr>
          <a:lstStyle/>
          <a:p>
            <a:pPr algn="l" marL="176530" indent="-176530">
              <a:lnSpc>
                <a:spcPts val="2175"/>
              </a:lnSpc>
              <a:buSzPct val="100000"/>
              <a:buChar char="•"/>
            </a:pPr>
            <a:r>
              <a:rPr lang="en-US" sz="1500" dirty="0">
                <a:solidFill>
                  <a:srgbClr val="14202E"/>
                </a:solidFill>
                <a:latin typeface="Inter" pitchFamily="34" charset="0"/>
                <a:ea typeface="Inter" pitchFamily="34" charset="-122"/>
                <a:cs typeface="Inter" pitchFamily="34" charset="-120"/>
              </a:rPr>
              <a:t>Detects students and mobile phones in each frame</a:t>
            </a:r>
            <a:endParaRPr lang="en-US" sz="1500" dirty="0"/>
          </a:p>
          <a:p>
            <a:pPr algn="l" marL="176530" indent="-176530">
              <a:lnSpc>
                <a:spcPts val="2175"/>
              </a:lnSpc>
              <a:buSzPct val="100000"/>
              <a:buChar char="•"/>
            </a:pPr>
            <a:r>
              <a:rPr lang="en-US" sz="1500" dirty="0">
                <a:solidFill>
                  <a:srgbClr val="14202E"/>
                </a:solidFill>
                <a:latin typeface="Inter" pitchFamily="34" charset="0"/>
                <a:ea typeface="Inter" pitchFamily="34" charset="-122"/>
                <a:cs typeface="Inter" pitchFamily="34" charset="-120"/>
              </a:rPr>
              <a:t>Gives a confidence score per detection</a:t>
            </a:r>
            <a:endParaRPr lang="en-US" sz="1500" dirty="0"/>
          </a:p>
        </p:txBody>
      </p:sp>
      <p:sp>
        <p:nvSpPr>
          <p:cNvPr id="9" name="Shape 7"/>
          <p:cNvSpPr/>
          <p:nvPr/>
        </p:nvSpPr>
        <p:spPr>
          <a:xfrm>
            <a:off x="4400550" y="1996182"/>
            <a:ext cx="3390900" cy="2540000"/>
          </a:xfrm>
          <a:prstGeom prst="roundRect">
            <a:avLst>
              <a:gd name="adj" fmla="val 4000"/>
            </a:avLst>
          </a:prstGeom>
          <a:solidFill>
            <a:srgbClr val="FFFFFF"/>
          </a:solidFill>
          <a:ln/>
        </p:spPr>
      </p:sp>
      <p:sp>
        <p:nvSpPr>
          <p:cNvPr id="10" name="Shape 8"/>
          <p:cNvSpPr/>
          <p:nvPr/>
        </p:nvSpPr>
        <p:spPr>
          <a:xfrm>
            <a:off x="4400550" y="1996182"/>
            <a:ext cx="3390900" cy="2540000"/>
          </a:xfrm>
          <a:custGeom>
            <a:avLst/>
            <a:gdLst/>
            <a:ahLst/>
            <a:cxnLst/>
            <a:rect l="l" t="t" r="r" b="b"/>
            <a:pathLst>
              <a:path w="3390900" h="2540000">
                <a:moveTo>
                  <a:pt x="0" y="101600"/>
                </a:moveTo>
                <a:lnTo>
                  <a:pt x="0" y="101600"/>
                </a:lnTo>
                <a:arcTo hR="101600" wR="101600" stAng="10800000" swAng="5400000"/>
                <a:lnTo>
                  <a:pt x="3289300" y="0"/>
                </a:lnTo>
                <a:arcTo hR="101600" wR="101600" stAng="16200000" swAng="5400000"/>
                <a:lnTo>
                  <a:pt x="3390900" y="101600"/>
                </a:lnTo>
                <a:arcTo hR="50800" wR="101600" stAng="0" swAng="-5400000"/>
                <a:lnTo>
                  <a:pt x="101600" y="50800"/>
                </a:lnTo>
                <a:arcTo hR="50800" wR="101600" stAng="16200000" swAng="-5400000"/>
                <a:close/>
              </a:path>
            </a:pathLst>
          </a:custGeom>
          <a:solidFill>
            <a:srgbClr val="0E7C86"/>
          </a:solidFill>
          <a:ln/>
        </p:spPr>
      </p:sp>
      <p:sp>
        <p:nvSpPr>
          <p:cNvPr id="11" name="Text 9"/>
          <p:cNvSpPr/>
          <p:nvPr/>
        </p:nvSpPr>
        <p:spPr>
          <a:xfrm>
            <a:off x="4654550" y="2300982"/>
            <a:ext cx="296938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E7C86"/>
                </a:solidFill>
                <a:latin typeface="Inter" pitchFamily="34" charset="0"/>
                <a:ea typeface="Inter" pitchFamily="34" charset="-122"/>
                <a:cs typeface="Inter" pitchFamily="34" charset="-120"/>
              </a:rPr>
              <a:t>MediaPipe Landmarks</a:t>
            </a:r>
            <a:endParaRPr lang="en-US" sz="2000" dirty="0"/>
          </a:p>
        </p:txBody>
      </p:sp>
      <p:sp>
        <p:nvSpPr>
          <p:cNvPr id="12" name="Text 10"/>
          <p:cNvSpPr/>
          <p:nvPr/>
        </p:nvSpPr>
        <p:spPr>
          <a:xfrm>
            <a:off x="4732020" y="2732782"/>
            <a:ext cx="2884297" cy="1130300"/>
          </a:xfrm>
          <a:prstGeom prst="rect">
            <a:avLst/>
          </a:prstGeom>
          <a:noFill/>
          <a:ln/>
        </p:spPr>
        <p:txBody>
          <a:bodyPr wrap="square" lIns="0" tIns="0" rIns="0" bIns="0" rtlCol="0" anchor="t">
            <a:normAutofit/>
          </a:bodyPr>
          <a:lstStyle/>
          <a:p>
            <a:pPr algn="l" marL="176530" indent="-176530">
              <a:lnSpc>
                <a:spcPts val="2175"/>
              </a:lnSpc>
              <a:buSzPct val="100000"/>
              <a:buChar char="•"/>
            </a:pPr>
            <a:r>
              <a:rPr lang="en-US" sz="1500" dirty="0">
                <a:solidFill>
                  <a:srgbClr val="14202E"/>
                </a:solidFill>
                <a:latin typeface="Inter" pitchFamily="34" charset="0"/>
                <a:ea typeface="Inter" pitchFamily="34" charset="-122"/>
                <a:cs typeface="Inter" pitchFamily="34" charset="-120"/>
              </a:rPr>
              <a:t>Face and head landmarks per student</a:t>
            </a:r>
            <a:endParaRPr lang="en-US" sz="1500" dirty="0"/>
          </a:p>
          <a:p>
            <a:pPr algn="l" marL="176530" indent="-176530">
              <a:lnSpc>
                <a:spcPts val="2175"/>
              </a:lnSpc>
              <a:buSzPct val="100000"/>
              <a:buChar char="•"/>
            </a:pPr>
            <a:r>
              <a:rPr lang="en-US" sz="1500" dirty="0">
                <a:solidFill>
                  <a:srgbClr val="14202E"/>
                </a:solidFill>
                <a:latin typeface="Inter" pitchFamily="34" charset="0"/>
                <a:ea typeface="Inter" pitchFamily="34" charset="-122"/>
                <a:cs typeface="Inter" pitchFamily="34" charset="-120"/>
              </a:rPr>
              <a:t>Tracks head orientation and sideways movement</a:t>
            </a:r>
            <a:endParaRPr lang="en-US" sz="1500" dirty="0"/>
          </a:p>
        </p:txBody>
      </p:sp>
      <p:sp>
        <p:nvSpPr>
          <p:cNvPr id="13" name="Shape 11"/>
          <p:cNvSpPr/>
          <p:nvPr/>
        </p:nvSpPr>
        <p:spPr>
          <a:xfrm>
            <a:off x="7994650" y="1996182"/>
            <a:ext cx="3390900" cy="2540000"/>
          </a:xfrm>
          <a:prstGeom prst="roundRect">
            <a:avLst>
              <a:gd name="adj" fmla="val 4000"/>
            </a:avLst>
          </a:prstGeom>
          <a:solidFill>
            <a:srgbClr val="FFFFFF"/>
          </a:solidFill>
          <a:ln/>
        </p:spPr>
      </p:sp>
      <p:sp>
        <p:nvSpPr>
          <p:cNvPr id="14" name="Shape 12"/>
          <p:cNvSpPr/>
          <p:nvPr/>
        </p:nvSpPr>
        <p:spPr>
          <a:xfrm>
            <a:off x="7994650" y="1996182"/>
            <a:ext cx="3390900" cy="2540000"/>
          </a:xfrm>
          <a:custGeom>
            <a:avLst/>
            <a:gdLst/>
            <a:ahLst/>
            <a:cxnLst/>
            <a:rect l="l" t="t" r="r" b="b"/>
            <a:pathLst>
              <a:path w="3390900" h="2540000">
                <a:moveTo>
                  <a:pt x="0" y="101600"/>
                </a:moveTo>
                <a:lnTo>
                  <a:pt x="0" y="101600"/>
                </a:lnTo>
                <a:arcTo hR="101600" wR="101600" stAng="10800000" swAng="5400000"/>
                <a:lnTo>
                  <a:pt x="3289300" y="0"/>
                </a:lnTo>
                <a:arcTo hR="101600" wR="101600" stAng="16200000" swAng="5400000"/>
                <a:lnTo>
                  <a:pt x="3390900" y="101600"/>
                </a:lnTo>
                <a:arcTo hR="50800" wR="101600" stAng="0" swAng="-5400000"/>
                <a:lnTo>
                  <a:pt x="101600" y="50800"/>
                </a:lnTo>
                <a:arcTo hR="50800" wR="101600" stAng="16200000" swAng="-5400000"/>
                <a:close/>
              </a:path>
            </a:pathLst>
          </a:custGeom>
          <a:solidFill>
            <a:srgbClr val="B4531A"/>
          </a:solidFill>
          <a:ln/>
        </p:spPr>
      </p:sp>
      <p:sp>
        <p:nvSpPr>
          <p:cNvPr id="15" name="Text 13"/>
          <p:cNvSpPr/>
          <p:nvPr/>
        </p:nvSpPr>
        <p:spPr>
          <a:xfrm>
            <a:off x="8248650" y="2300982"/>
            <a:ext cx="296938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4531A"/>
                </a:solidFill>
                <a:latin typeface="Inter" pitchFamily="34" charset="0"/>
                <a:ea typeface="Inter" pitchFamily="34" charset="-122"/>
                <a:cs typeface="Inter" pitchFamily="34" charset="-120"/>
              </a:rPr>
              <a:t>Multi-Frame Rules</a:t>
            </a:r>
            <a:endParaRPr lang="en-US" sz="2000" dirty="0"/>
          </a:p>
        </p:txBody>
      </p:sp>
      <p:sp>
        <p:nvSpPr>
          <p:cNvPr id="16" name="Text 14"/>
          <p:cNvSpPr/>
          <p:nvPr/>
        </p:nvSpPr>
        <p:spPr>
          <a:xfrm>
            <a:off x="8333232" y="2732782"/>
            <a:ext cx="2877185" cy="1572022"/>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14202E"/>
                </a:solidFill>
                <a:latin typeface="Inter" pitchFamily="34" charset="0"/>
                <a:ea typeface="Inter" pitchFamily="34" charset="-122"/>
                <a:cs typeface="Inter" pitchFamily="34" charset="-120"/>
              </a:rPr>
              <a:t>IF phone persists for N consecutive frames THEN phone-use event</a:t>
            </a:r>
            <a:endParaRPr lang="en-US" sz="1400" dirty="0"/>
          </a:p>
          <a:p>
            <a:pPr algn="l" marL="169418" indent="-169418">
              <a:lnSpc>
                <a:spcPts val="2030"/>
              </a:lnSpc>
              <a:buSzPct val="100000"/>
              <a:buChar char="•"/>
            </a:pPr>
            <a:r>
              <a:rPr lang="en-US" sz="1400" dirty="0">
                <a:solidFill>
                  <a:srgbClr val="14202E"/>
                </a:solidFill>
                <a:latin typeface="Inter" pitchFamily="34" charset="0"/>
                <a:ea typeface="Inter" pitchFamily="34" charset="-122"/>
                <a:cs typeface="Inter" pitchFamily="34" charset="-120"/>
              </a:rPr>
              <a:t>IF repeated sideways movement exceeds threshold THEN movement event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5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7C86"/>
                </a:solidFill>
                <a:latin typeface="Inter" pitchFamily="34" charset="0"/>
                <a:ea typeface="Inter" pitchFamily="34" charset="-122"/>
                <a:cs typeface="Inter" pitchFamily="34" charset="-120"/>
              </a:rPr>
              <a:t>Prototype Output</a:t>
            </a:r>
            <a:endParaRPr lang="en-US" sz="3200" dirty="0"/>
          </a:p>
        </p:txBody>
      </p:sp>
      <p:sp>
        <p:nvSpPr>
          <p:cNvPr id="3" name="Text 1"/>
          <p:cNvSpPr/>
          <p:nvPr/>
        </p:nvSpPr>
        <p:spPr>
          <a:xfrm>
            <a:off x="883158" y="1564580"/>
            <a:ext cx="7168896" cy="1498302"/>
          </a:xfrm>
          <a:prstGeom prst="rect">
            <a:avLst/>
          </a:prstGeom>
          <a:noFill/>
          <a:ln/>
        </p:spPr>
        <p:txBody>
          <a:bodyPr wrap="square" lIns="0" tIns="0" rIns="0" bIns="0" rtlCol="0" anchor="t">
            <a:normAutofit/>
          </a:bodyPr>
          <a:lstStyle/>
          <a:p>
            <a:pPr algn="l" marL="183642" indent="-183642">
              <a:lnSpc>
                <a:spcPts val="2320"/>
              </a:lnSpc>
              <a:buSzPct val="100000"/>
              <a:buChar char="•"/>
            </a:pPr>
            <a:r>
              <a:rPr lang="en-US" sz="1600" dirty="0">
                <a:solidFill>
                  <a:srgbClr val="14202E"/>
                </a:solidFill>
                <a:latin typeface="Inter" pitchFamily="34" charset="0"/>
                <a:ea typeface="Inter" pitchFamily="34" charset="-122"/>
                <a:cs typeface="Inter" pitchFamily="34" charset="-120"/>
              </a:rPr>
              <a:t>Live webcam feed with the seat-wise status panel</a:t>
            </a:r>
            <a:endParaRPr lang="en-US" sz="1600" dirty="0"/>
          </a:p>
          <a:p>
            <a:pPr algn="l" marL="183642" indent="-183642">
              <a:lnSpc>
                <a:spcPts val="2320"/>
              </a:lnSpc>
              <a:buSzPct val="100000"/>
              <a:buChar char="•"/>
            </a:pPr>
            <a:r>
              <a:rPr lang="en-US" sz="1600" dirty="0">
                <a:solidFill>
                  <a:srgbClr val="14202E"/>
                </a:solidFill>
                <a:latin typeface="Inter" pitchFamily="34" charset="0"/>
                <a:ea typeface="Inter" pitchFamily="34" charset="-122"/>
                <a:cs typeface="Inter" pitchFamily="34" charset="-120"/>
              </a:rPr>
              <a:t>Seat S07 flagged: Suspicious Activity, Mobile Phone Detected</a:t>
            </a:r>
            <a:endParaRPr lang="en-US" sz="1600" dirty="0"/>
          </a:p>
          <a:p>
            <a:pPr algn="l" marL="183642" indent="-183642">
              <a:lnSpc>
                <a:spcPts val="2320"/>
              </a:lnSpc>
              <a:buSzPct val="100000"/>
              <a:buChar char="•"/>
            </a:pPr>
            <a:r>
              <a:rPr lang="en-US" sz="1600" dirty="0">
                <a:solidFill>
                  <a:srgbClr val="14202E"/>
                </a:solidFill>
                <a:latin typeface="Inter" pitchFamily="34" charset="0"/>
                <a:ea typeface="Inter" pitchFamily="34" charset="-122"/>
                <a:cs typeface="Inter" pitchFamily="34" charset="-120"/>
              </a:rPr>
              <a:t>Event log records ID, seat, activity, time, confidence, duration and status</a:t>
            </a:r>
            <a:endParaRPr lang="en-US" sz="1600" dirty="0"/>
          </a:p>
          <a:p>
            <a:pPr algn="l" marL="183642" indent="-183642">
              <a:lnSpc>
                <a:spcPts val="2320"/>
              </a:lnSpc>
              <a:buSzPct val="100000"/>
              <a:buChar char="•"/>
            </a:pPr>
            <a:r>
              <a:rPr lang="en-US" sz="1600" dirty="0">
                <a:solidFill>
                  <a:srgbClr val="14202E"/>
                </a:solidFill>
                <a:latin typeface="Inter" pitchFamily="34" charset="0"/>
                <a:ea typeface="Inter" pitchFamily="34" charset="-122"/>
                <a:cs typeface="Inter" pitchFamily="34" charset="-120"/>
              </a:rPr>
              <a:t>Every event is marked For Review: the invigilator makes the final call</a:t>
            </a:r>
            <a:endParaRPr lang="en-US" sz="1600" dirty="0"/>
          </a:p>
        </p:txBody>
      </p:sp>
      <p:pic>
        <p:nvPicPr>
          <p:cNvPr id="4" name="Image 0" descr="Flask dashboard showing live webcam feed, seat S07 flagged for mobile phone, and the event log">    </p:cNvPr>
          <p:cNvPicPr>
            <a:picLocks noChangeAspect="1"/>
          </p:cNvPicPr>
          <p:nvPr/>
        </p:nvPicPr>
        <p:blipFill>
          <a:blip r:embed="rId1"/>
          <a:srcRect l="16" r="16" t="0" b="0"/>
          <a:stretch/>
        </p:blipFill>
        <p:spPr>
          <a:xfrm>
            <a:off x="8204200" y="1564580"/>
            <a:ext cx="3175000" cy="4025900"/>
          </a:xfrm>
          <a:prstGeom prst="roundRect">
            <a:avLst>
              <a:gd name="adj" fmla="val 3200"/>
            </a:avLst>
          </a:prstGeom>
        </p:spPr>
      </p:pic>
      <p:sp>
        <p:nvSpPr>
          <p:cNvPr id="5" name="Text 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6"/>
                </a:solidFill>
                <a:latin typeface="Inter" pitchFamily="34" charset="0"/>
                <a:ea typeface="Inter" pitchFamily="34" charset="-122"/>
                <a:cs typeface="Inter" pitchFamily="34" charset="-120"/>
              </a:rPr>
              <a:t>Smart Surveillance System · Major Project Phase-1 · Review-2</a:t>
            </a:r>
            <a:endParaRPr lang="en-US" sz="1200" dirty="0"/>
          </a:p>
        </p:txBody>
      </p:sp>
      <p:sp>
        <p:nvSpPr>
          <p:cNvPr id="6" name="Text 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6"/>
                </a:solidFill>
                <a:latin typeface="Inter" pitchFamily="34" charset="0"/>
                <a:ea typeface="Inter" pitchFamily="34" charset="-122"/>
                <a:cs typeface="Inte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5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7C86"/>
                </a:solidFill>
                <a:latin typeface="Inter" pitchFamily="34" charset="0"/>
                <a:ea typeface="Inter" pitchFamily="34" charset="-122"/>
                <a:cs typeface="Inter" pitchFamily="34" charset="-120"/>
              </a:rPr>
              <a:t>Conclusion</a:t>
            </a:r>
            <a:endParaRPr lang="en-US" sz="3200" dirty="0"/>
          </a:p>
        </p:txBody>
      </p:sp>
      <p:sp>
        <p:nvSpPr>
          <p:cNvPr id="3" name="Text 1"/>
          <p:cNvSpPr/>
          <p:nvPr/>
        </p:nvSpPr>
        <p:spPr>
          <a:xfrm>
            <a:off x="812800" y="1564580"/>
            <a:ext cx="10883392" cy="1054100"/>
          </a:xfrm>
          <a:prstGeom prst="rect">
            <a:avLst/>
          </a:prstGeom>
          <a:noFill/>
          <a:ln/>
        </p:spPr>
        <p:txBody>
          <a:bodyPr wrap="square" lIns="0" tIns="0" rIns="0" bIns="0" rtlCol="0" anchor="t">
            <a:normAutofit/>
          </a:bodyPr>
          <a:lstStyle/>
          <a:p>
            <a:pPr algn="l" indent="0" marL="0">
              <a:lnSpc>
                <a:spcPts val="2700"/>
              </a:lnSpc>
              <a:buNone/>
            </a:pPr>
            <a:r>
              <a:rPr lang="en-US" sz="1800" dirty="0">
                <a:solidFill>
                  <a:srgbClr val="14202E"/>
                </a:solidFill>
                <a:latin typeface="Inter" pitchFamily="34" charset="0"/>
                <a:ea typeface="Inter" pitchFamily="34" charset="-122"/>
                <a:cs typeface="Inter" pitchFamily="34" charset="-120"/>
              </a:rPr>
              <a:t>The goal is not to replace the invigilator, but to build an AI-assisted layer that continuously watches exam video and brings potentially suspicious events to the invigilator’s attention for human verification.</a:t>
            </a:r>
            <a:endParaRPr lang="en-US" sz="1800" dirty="0"/>
          </a:p>
        </p:txBody>
      </p:sp>
      <p:sp>
        <p:nvSpPr>
          <p:cNvPr id="4" name="Shape 2"/>
          <p:cNvSpPr/>
          <p:nvPr/>
        </p:nvSpPr>
        <p:spPr>
          <a:xfrm>
            <a:off x="812800" y="2898080"/>
            <a:ext cx="5181600" cy="2095500"/>
          </a:xfrm>
          <a:prstGeom prst="roundRect">
            <a:avLst>
              <a:gd name="adj" fmla="val 4848"/>
            </a:avLst>
          </a:prstGeom>
          <a:solidFill>
            <a:srgbClr val="FFFFFF"/>
          </a:solidFill>
          <a:ln/>
        </p:spPr>
      </p:sp>
      <p:sp>
        <p:nvSpPr>
          <p:cNvPr id="5" name="Shape 3"/>
          <p:cNvSpPr/>
          <p:nvPr/>
        </p:nvSpPr>
        <p:spPr>
          <a:xfrm>
            <a:off x="812800" y="2898080"/>
            <a:ext cx="5181600" cy="2095500"/>
          </a:xfrm>
          <a:custGeom>
            <a:avLst/>
            <a:gdLst/>
            <a:ahLst/>
            <a:cxnLst/>
            <a:rect l="l" t="t" r="r" b="b"/>
            <a:pathLst>
              <a:path w="5181600" h="2095500">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0E7C86"/>
          </a:solidFill>
          <a:ln/>
        </p:spPr>
      </p:sp>
      <p:sp>
        <p:nvSpPr>
          <p:cNvPr id="6" name="Text 4"/>
          <p:cNvSpPr/>
          <p:nvPr/>
        </p:nvSpPr>
        <p:spPr>
          <a:xfrm>
            <a:off x="1066800" y="3202880"/>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E7C86"/>
                </a:solidFill>
                <a:latin typeface="Inter" pitchFamily="34" charset="0"/>
                <a:ea typeface="Inter" pitchFamily="34" charset="-122"/>
                <a:cs typeface="Inter" pitchFamily="34" charset="-120"/>
              </a:rPr>
              <a:t>Phase-1 Progress</a:t>
            </a:r>
            <a:endParaRPr lang="en-US" sz="2000" dirty="0"/>
          </a:p>
        </p:txBody>
      </p:sp>
      <p:sp>
        <p:nvSpPr>
          <p:cNvPr id="7" name="Text 5"/>
          <p:cNvSpPr/>
          <p:nvPr/>
        </p:nvSpPr>
        <p:spPr>
          <a:xfrm>
            <a:off x="1144270" y="3634680"/>
            <a:ext cx="4728718" cy="1130300"/>
          </a:xfrm>
          <a:prstGeom prst="rect">
            <a:avLst/>
          </a:prstGeom>
          <a:noFill/>
          <a:ln/>
        </p:spPr>
        <p:txBody>
          <a:bodyPr wrap="square" lIns="0" tIns="0" rIns="0" bIns="0" rtlCol="0" anchor="t">
            <a:normAutofit/>
          </a:bodyPr>
          <a:lstStyle/>
          <a:p>
            <a:pPr algn="l" marL="176530" indent="-176530">
              <a:lnSpc>
                <a:spcPts val="2175"/>
              </a:lnSpc>
              <a:buSzPct val="100000"/>
              <a:buChar char="•"/>
            </a:pPr>
            <a:r>
              <a:rPr lang="en-US" sz="1500" dirty="0">
                <a:solidFill>
                  <a:srgbClr val="14202E"/>
                </a:solidFill>
                <a:latin typeface="Inter" pitchFamily="34" charset="0"/>
                <a:ea typeface="Inter" pitchFamily="34" charset="-122"/>
                <a:cs typeface="Inter" pitchFamily="34" charset="-120"/>
              </a:rPr>
              <a:t>Working prototype on a Flask dashboard</a:t>
            </a:r>
            <a:endParaRPr lang="en-US" sz="1500" dirty="0"/>
          </a:p>
          <a:p>
            <a:pPr algn="l" marL="176530" indent="-176530">
              <a:lnSpc>
                <a:spcPts val="2175"/>
              </a:lnSpc>
              <a:buSzPct val="100000"/>
              <a:buChar char="•"/>
            </a:pPr>
            <a:r>
              <a:rPr lang="en-US" sz="1500" dirty="0">
                <a:solidFill>
                  <a:srgbClr val="14202E"/>
                </a:solidFill>
                <a:latin typeface="Inter" pitchFamily="34" charset="0"/>
                <a:ea typeface="Inter" pitchFamily="34" charset="-122"/>
                <a:cs typeface="Inter" pitchFamily="34" charset="-120"/>
              </a:rPr>
              <a:t>Flags phone use and repeated sideways movement</a:t>
            </a:r>
            <a:endParaRPr lang="en-US" sz="1500" dirty="0"/>
          </a:p>
          <a:p>
            <a:pPr algn="l" marL="176530" indent="-176530">
              <a:lnSpc>
                <a:spcPts val="2175"/>
              </a:lnSpc>
              <a:buSzPct val="100000"/>
              <a:buChar char="•"/>
            </a:pPr>
            <a:r>
              <a:rPr lang="en-US" sz="1500" dirty="0">
                <a:solidFill>
                  <a:srgbClr val="14202E"/>
                </a:solidFill>
                <a:latin typeface="Inter" pitchFamily="34" charset="0"/>
                <a:ea typeface="Inter" pitchFamily="34" charset="-122"/>
                <a:cs typeface="Inter" pitchFamily="34" charset="-120"/>
              </a:rPr>
              <a:t>Logs every event for post-exam review</a:t>
            </a:r>
            <a:endParaRPr lang="en-US" sz="1500" dirty="0"/>
          </a:p>
        </p:txBody>
      </p:sp>
      <p:sp>
        <p:nvSpPr>
          <p:cNvPr id="8" name="Shape 6"/>
          <p:cNvSpPr/>
          <p:nvPr/>
        </p:nvSpPr>
        <p:spPr>
          <a:xfrm>
            <a:off x="6197600" y="2898080"/>
            <a:ext cx="5181600" cy="2095500"/>
          </a:xfrm>
          <a:prstGeom prst="roundRect">
            <a:avLst>
              <a:gd name="adj" fmla="val 4848"/>
            </a:avLst>
          </a:prstGeom>
          <a:solidFill>
            <a:srgbClr val="FFFFFF"/>
          </a:solidFill>
          <a:ln/>
        </p:spPr>
      </p:sp>
      <p:sp>
        <p:nvSpPr>
          <p:cNvPr id="9" name="Shape 7"/>
          <p:cNvSpPr/>
          <p:nvPr/>
        </p:nvSpPr>
        <p:spPr>
          <a:xfrm>
            <a:off x="6197600" y="2898080"/>
            <a:ext cx="5181600" cy="2095500"/>
          </a:xfrm>
          <a:custGeom>
            <a:avLst/>
            <a:gdLst/>
            <a:ahLst/>
            <a:cxnLst/>
            <a:rect l="l" t="t" r="r" b="b"/>
            <a:pathLst>
              <a:path w="5181600" h="2095500">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B4531A"/>
          </a:solidFill>
          <a:ln/>
        </p:spPr>
      </p:sp>
      <p:sp>
        <p:nvSpPr>
          <p:cNvPr id="10" name="Text 8"/>
          <p:cNvSpPr/>
          <p:nvPr/>
        </p:nvSpPr>
        <p:spPr>
          <a:xfrm>
            <a:off x="6451600" y="3202880"/>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4531A"/>
                </a:solidFill>
                <a:latin typeface="Inter" pitchFamily="34" charset="0"/>
                <a:ea typeface="Inter" pitchFamily="34" charset="-122"/>
                <a:cs typeface="Inter" pitchFamily="34" charset="-120"/>
              </a:rPr>
              <a:t>Why It Works</a:t>
            </a:r>
            <a:endParaRPr lang="en-US" sz="2000" dirty="0"/>
          </a:p>
        </p:txBody>
      </p:sp>
      <p:sp>
        <p:nvSpPr>
          <p:cNvPr id="11" name="Text 9"/>
          <p:cNvSpPr/>
          <p:nvPr/>
        </p:nvSpPr>
        <p:spPr>
          <a:xfrm>
            <a:off x="6529070" y="3634680"/>
            <a:ext cx="4728718" cy="854075"/>
          </a:xfrm>
          <a:prstGeom prst="rect">
            <a:avLst/>
          </a:prstGeom>
          <a:noFill/>
          <a:ln/>
        </p:spPr>
        <p:txBody>
          <a:bodyPr wrap="square" lIns="0" tIns="0" rIns="0" bIns="0" rtlCol="0" anchor="t">
            <a:normAutofit/>
          </a:bodyPr>
          <a:lstStyle/>
          <a:p>
            <a:pPr algn="l" marL="176530" indent="-176530">
              <a:lnSpc>
                <a:spcPts val="2175"/>
              </a:lnSpc>
              <a:buSzPct val="100000"/>
              <a:buChar char="•"/>
            </a:pPr>
            <a:r>
              <a:rPr lang="en-US" sz="1500" dirty="0">
                <a:solidFill>
                  <a:srgbClr val="14202E"/>
                </a:solidFill>
                <a:latin typeface="Inter" pitchFamily="34" charset="0"/>
                <a:ea typeface="Inter" pitchFamily="34" charset="-122"/>
                <a:cs typeface="Inter" pitchFamily="34" charset="-120"/>
              </a:rPr>
              <a:t>Multi-frame evidence, not a single frame</a:t>
            </a:r>
            <a:endParaRPr lang="en-US" sz="1500" dirty="0"/>
          </a:p>
          <a:p>
            <a:pPr algn="l" marL="176530" indent="-176530">
              <a:lnSpc>
                <a:spcPts val="2175"/>
              </a:lnSpc>
              <a:buSzPct val="100000"/>
              <a:buChar char="•"/>
            </a:pPr>
            <a:r>
              <a:rPr lang="en-US" sz="1500" dirty="0">
                <a:solidFill>
                  <a:srgbClr val="14202E"/>
                </a:solidFill>
                <a:latin typeface="Inter" pitchFamily="34" charset="0"/>
                <a:ea typeface="Inter" pitchFamily="34" charset="-122"/>
                <a:cs typeface="Inter" pitchFamily="34" charset="-120"/>
              </a:rPr>
              <a:t>Explainable rules layered on detection models</a:t>
            </a:r>
            <a:endParaRPr lang="en-US" sz="1500" dirty="0"/>
          </a:p>
          <a:p>
            <a:pPr algn="l" marL="176530" indent="-176530">
              <a:lnSpc>
                <a:spcPts val="2175"/>
              </a:lnSpc>
              <a:buSzPct val="100000"/>
              <a:buChar char="•"/>
            </a:pPr>
            <a:r>
              <a:rPr lang="en-US" sz="1500" dirty="0">
                <a:solidFill>
                  <a:srgbClr val="14202E"/>
                </a:solidFill>
                <a:latin typeface="Inter" pitchFamily="34" charset="0"/>
                <a:ea typeface="Inter" pitchFamily="34" charset="-122"/>
                <a:cs typeface="Inter" pitchFamily="34" charset="-120"/>
              </a:rPr>
              <a:t>Human decision always retained</a:t>
            </a:r>
            <a:endParaRPr lang="en-US" sz="1500" dirty="0"/>
          </a:p>
        </p:txBody>
      </p:sp>
      <p:sp>
        <p:nvSpPr>
          <p:cNvPr id="12" name="Text 10"/>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6"/>
                </a:solidFill>
                <a:latin typeface="Inter" pitchFamily="34" charset="0"/>
                <a:ea typeface="Inter" pitchFamily="34" charset="-122"/>
                <a:cs typeface="Inter" pitchFamily="34" charset="-120"/>
              </a:rPr>
              <a:t>Smart Surveillance System · Major Project Phase-1 · Review-2</a:t>
            </a:r>
            <a:endParaRPr lang="en-US" sz="1200" dirty="0"/>
          </a:p>
        </p:txBody>
      </p:sp>
      <p:sp>
        <p:nvSpPr>
          <p:cNvPr id="13" name="Text 1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6"/>
                </a:solidFill>
                <a:latin typeface="Inter" pitchFamily="34" charset="0"/>
                <a:ea typeface="Inter" pitchFamily="34" charset="-122"/>
                <a:cs typeface="Inte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5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7C86"/>
                </a:solidFill>
                <a:latin typeface="Inter" pitchFamily="34" charset="0"/>
                <a:ea typeface="Inter" pitchFamily="34" charset="-122"/>
                <a:cs typeface="Inter" pitchFamily="34" charset="-120"/>
              </a:rPr>
              <a:t>Future Scope</a:t>
            </a:r>
            <a:endParaRPr lang="en-US" sz="3200" dirty="0"/>
          </a:p>
        </p:txBody>
      </p:sp>
      <p:sp>
        <p:nvSpPr>
          <p:cNvPr id="3" name="Shape 1"/>
          <p:cNvSpPr/>
          <p:nvPr/>
        </p:nvSpPr>
        <p:spPr>
          <a:xfrm>
            <a:off x="812800" y="1564580"/>
            <a:ext cx="5207000" cy="675580"/>
          </a:xfrm>
          <a:prstGeom prst="roundRect">
            <a:avLst>
              <a:gd name="adj" fmla="val 15039"/>
            </a:avLst>
          </a:prstGeom>
          <a:solidFill>
            <a:srgbClr val="FFFFFF"/>
          </a:solidFill>
          <a:ln/>
        </p:spPr>
      </p:sp>
      <p:sp>
        <p:nvSpPr>
          <p:cNvPr id="4" name="Text 2"/>
          <p:cNvSpPr/>
          <p:nvPr/>
        </p:nvSpPr>
        <p:spPr>
          <a:xfrm>
            <a:off x="990600" y="1742380"/>
            <a:ext cx="149423"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7C86"/>
                </a:solidFill>
                <a:latin typeface="Inter" pitchFamily="34" charset="0"/>
                <a:ea typeface="Inter" pitchFamily="34" charset="-122"/>
                <a:cs typeface="Inter" pitchFamily="34" charset="-120"/>
              </a:rPr>
              <a:t>1</a:t>
            </a:r>
            <a:endParaRPr lang="en-US" sz="1800" dirty="0"/>
          </a:p>
        </p:txBody>
      </p:sp>
      <p:sp>
        <p:nvSpPr>
          <p:cNvPr id="5" name="Text 3"/>
          <p:cNvSpPr/>
          <p:nvPr/>
        </p:nvSpPr>
        <p:spPr>
          <a:xfrm>
            <a:off x="1216223" y="1768971"/>
            <a:ext cx="303561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02E"/>
                </a:solidFill>
                <a:latin typeface="Inter" pitchFamily="34" charset="0"/>
                <a:ea typeface="Inter" pitchFamily="34" charset="-122"/>
                <a:cs typeface="Inter" pitchFamily="34" charset="-120"/>
              </a:rPr>
              <a:t>Better multi-person tracking</a:t>
            </a:r>
            <a:endParaRPr lang="en-US" sz="1500" dirty="0"/>
          </a:p>
        </p:txBody>
      </p:sp>
      <p:sp>
        <p:nvSpPr>
          <p:cNvPr id="6" name="Shape 4"/>
          <p:cNvSpPr/>
          <p:nvPr/>
        </p:nvSpPr>
        <p:spPr>
          <a:xfrm>
            <a:off x="6172200" y="1564580"/>
            <a:ext cx="5207000" cy="675580"/>
          </a:xfrm>
          <a:prstGeom prst="roundRect">
            <a:avLst>
              <a:gd name="adj" fmla="val 15039"/>
            </a:avLst>
          </a:prstGeom>
          <a:solidFill>
            <a:srgbClr val="FFFFFF"/>
          </a:solidFill>
          <a:ln/>
        </p:spPr>
      </p:sp>
      <p:sp>
        <p:nvSpPr>
          <p:cNvPr id="7" name="Text 5"/>
          <p:cNvSpPr/>
          <p:nvPr/>
        </p:nvSpPr>
        <p:spPr>
          <a:xfrm>
            <a:off x="6350000" y="1742380"/>
            <a:ext cx="194866"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7C86"/>
                </a:solidFill>
                <a:latin typeface="Inter" pitchFamily="34" charset="0"/>
                <a:ea typeface="Inter" pitchFamily="34" charset="-122"/>
                <a:cs typeface="Inter" pitchFamily="34" charset="-120"/>
              </a:rPr>
              <a:t>2</a:t>
            </a:r>
            <a:endParaRPr lang="en-US" sz="1800" dirty="0"/>
          </a:p>
        </p:txBody>
      </p:sp>
      <p:sp>
        <p:nvSpPr>
          <p:cNvPr id="8" name="Text 6"/>
          <p:cNvSpPr/>
          <p:nvPr/>
        </p:nvSpPr>
        <p:spPr>
          <a:xfrm>
            <a:off x="6621066" y="1768971"/>
            <a:ext cx="414980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02E"/>
                </a:solidFill>
                <a:latin typeface="Inter" pitchFamily="34" charset="0"/>
                <a:ea typeface="Inter" pitchFamily="34" charset="-122"/>
                <a:cs typeface="Inter" pitchFamily="34" charset="-120"/>
              </a:rPr>
              <a:t>Improved behavior recognition models</a:t>
            </a:r>
            <a:endParaRPr lang="en-US" sz="1500" dirty="0"/>
          </a:p>
        </p:txBody>
      </p:sp>
      <p:sp>
        <p:nvSpPr>
          <p:cNvPr id="9" name="Shape 7"/>
          <p:cNvSpPr/>
          <p:nvPr/>
        </p:nvSpPr>
        <p:spPr>
          <a:xfrm>
            <a:off x="812800" y="2392561"/>
            <a:ext cx="5207000" cy="889000"/>
          </a:xfrm>
          <a:prstGeom prst="roundRect">
            <a:avLst>
              <a:gd name="adj" fmla="val 11429"/>
            </a:avLst>
          </a:prstGeom>
          <a:solidFill>
            <a:srgbClr val="FFFFFF"/>
          </a:solidFill>
          <a:ln/>
        </p:spPr>
      </p:sp>
      <p:sp>
        <p:nvSpPr>
          <p:cNvPr id="10" name="Text 8"/>
          <p:cNvSpPr/>
          <p:nvPr/>
        </p:nvSpPr>
        <p:spPr>
          <a:xfrm>
            <a:off x="990600" y="2677021"/>
            <a:ext cx="196056"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7C86"/>
                </a:solidFill>
                <a:latin typeface="Inter" pitchFamily="34" charset="0"/>
                <a:ea typeface="Inter" pitchFamily="34" charset="-122"/>
                <a:cs typeface="Inter" pitchFamily="34" charset="-120"/>
              </a:rPr>
              <a:t>3</a:t>
            </a:r>
            <a:endParaRPr lang="en-US" sz="1800" dirty="0"/>
          </a:p>
        </p:txBody>
      </p:sp>
      <p:sp>
        <p:nvSpPr>
          <p:cNvPr id="11" name="Text 9"/>
          <p:cNvSpPr/>
          <p:nvPr/>
        </p:nvSpPr>
        <p:spPr>
          <a:xfrm>
            <a:off x="1262856" y="2570361"/>
            <a:ext cx="471651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02E"/>
                </a:solidFill>
                <a:latin typeface="Inter" pitchFamily="34" charset="0"/>
                <a:ea typeface="Inter" pitchFamily="34" charset="-122"/>
                <a:cs typeface="Inter" pitchFamily="34" charset="-120"/>
              </a:rPr>
              <a:t>Audio-based interaction detection, where permitted</a:t>
            </a:r>
            <a:endParaRPr lang="en-US" sz="1500" dirty="0"/>
          </a:p>
        </p:txBody>
      </p:sp>
      <p:sp>
        <p:nvSpPr>
          <p:cNvPr id="12" name="Shape 10"/>
          <p:cNvSpPr/>
          <p:nvPr/>
        </p:nvSpPr>
        <p:spPr>
          <a:xfrm>
            <a:off x="6172200" y="2392561"/>
            <a:ext cx="5207000" cy="889000"/>
          </a:xfrm>
          <a:prstGeom prst="roundRect">
            <a:avLst>
              <a:gd name="adj" fmla="val 11429"/>
            </a:avLst>
          </a:prstGeom>
          <a:solidFill>
            <a:srgbClr val="FFFFFF"/>
          </a:solidFill>
          <a:ln/>
        </p:spPr>
      </p:sp>
      <p:sp>
        <p:nvSpPr>
          <p:cNvPr id="13" name="Text 11"/>
          <p:cNvSpPr/>
          <p:nvPr/>
        </p:nvSpPr>
        <p:spPr>
          <a:xfrm>
            <a:off x="6350000" y="2677021"/>
            <a:ext cx="205482"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7C86"/>
                </a:solidFill>
                <a:latin typeface="Inter" pitchFamily="34" charset="0"/>
                <a:ea typeface="Inter" pitchFamily="34" charset="-122"/>
                <a:cs typeface="Inter" pitchFamily="34" charset="-120"/>
              </a:rPr>
              <a:t>4</a:t>
            </a:r>
            <a:endParaRPr lang="en-US" sz="1800" dirty="0"/>
          </a:p>
        </p:txBody>
      </p:sp>
      <p:sp>
        <p:nvSpPr>
          <p:cNvPr id="14" name="Text 12"/>
          <p:cNvSpPr/>
          <p:nvPr/>
        </p:nvSpPr>
        <p:spPr>
          <a:xfrm>
            <a:off x="6631682" y="2703711"/>
            <a:ext cx="474751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02E"/>
                </a:solidFill>
                <a:latin typeface="Inter" pitchFamily="34" charset="0"/>
                <a:ea typeface="Inter" pitchFamily="34" charset="-122"/>
                <a:cs typeface="Inter" pitchFamily="34" charset="-120"/>
              </a:rPr>
              <a:t>Robustness across camera angles and lighting</a:t>
            </a:r>
            <a:endParaRPr lang="en-US" sz="1500" dirty="0"/>
          </a:p>
        </p:txBody>
      </p:sp>
      <p:sp>
        <p:nvSpPr>
          <p:cNvPr id="15" name="Shape 13"/>
          <p:cNvSpPr/>
          <p:nvPr/>
        </p:nvSpPr>
        <p:spPr>
          <a:xfrm>
            <a:off x="812800" y="3433961"/>
            <a:ext cx="5207000" cy="675580"/>
          </a:xfrm>
          <a:prstGeom prst="roundRect">
            <a:avLst>
              <a:gd name="adj" fmla="val 15039"/>
            </a:avLst>
          </a:prstGeom>
          <a:solidFill>
            <a:srgbClr val="FFFFFF"/>
          </a:solidFill>
          <a:ln/>
        </p:spPr>
      </p:sp>
      <p:sp>
        <p:nvSpPr>
          <p:cNvPr id="16" name="Text 14"/>
          <p:cNvSpPr/>
          <p:nvPr/>
        </p:nvSpPr>
        <p:spPr>
          <a:xfrm>
            <a:off x="990600" y="3611761"/>
            <a:ext cx="19308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7C86"/>
                </a:solidFill>
                <a:latin typeface="Inter" pitchFamily="34" charset="0"/>
                <a:ea typeface="Inter" pitchFamily="34" charset="-122"/>
                <a:cs typeface="Inter" pitchFamily="34" charset="-120"/>
              </a:rPr>
              <a:t>5</a:t>
            </a:r>
            <a:endParaRPr lang="en-US" sz="1800" dirty="0"/>
          </a:p>
        </p:txBody>
      </p:sp>
      <p:sp>
        <p:nvSpPr>
          <p:cNvPr id="17" name="Text 15"/>
          <p:cNvSpPr/>
          <p:nvPr/>
        </p:nvSpPr>
        <p:spPr>
          <a:xfrm>
            <a:off x="1259880" y="3638352"/>
            <a:ext cx="392727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02E"/>
                </a:solidFill>
                <a:latin typeface="Inter" pitchFamily="34" charset="0"/>
                <a:ea typeface="Inter" pitchFamily="34" charset="-122"/>
                <a:cs typeface="Inter" pitchFamily="34" charset="-120"/>
              </a:rPr>
              <a:t>Real-time notifications to invigilators</a:t>
            </a:r>
            <a:endParaRPr lang="en-US" sz="1500" dirty="0"/>
          </a:p>
        </p:txBody>
      </p:sp>
      <p:sp>
        <p:nvSpPr>
          <p:cNvPr id="18" name="Shape 16"/>
          <p:cNvSpPr/>
          <p:nvPr/>
        </p:nvSpPr>
        <p:spPr>
          <a:xfrm>
            <a:off x="6172200" y="3433961"/>
            <a:ext cx="5207000" cy="675580"/>
          </a:xfrm>
          <a:prstGeom prst="roundRect">
            <a:avLst>
              <a:gd name="adj" fmla="val 15039"/>
            </a:avLst>
          </a:prstGeom>
          <a:solidFill>
            <a:srgbClr val="FFFFFF"/>
          </a:solidFill>
          <a:ln/>
        </p:spPr>
      </p:sp>
      <p:sp>
        <p:nvSpPr>
          <p:cNvPr id="19" name="Text 17"/>
          <p:cNvSpPr/>
          <p:nvPr/>
        </p:nvSpPr>
        <p:spPr>
          <a:xfrm>
            <a:off x="6350000" y="3611761"/>
            <a:ext cx="19933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7C86"/>
                </a:solidFill>
                <a:latin typeface="Inter" pitchFamily="34" charset="0"/>
                <a:ea typeface="Inter" pitchFamily="34" charset="-122"/>
                <a:cs typeface="Inter" pitchFamily="34" charset="-120"/>
              </a:rPr>
              <a:t>6</a:t>
            </a:r>
            <a:endParaRPr lang="en-US" sz="1800" dirty="0"/>
          </a:p>
        </p:txBody>
      </p:sp>
      <p:sp>
        <p:nvSpPr>
          <p:cNvPr id="20" name="Text 18"/>
          <p:cNvSpPr/>
          <p:nvPr/>
        </p:nvSpPr>
        <p:spPr>
          <a:xfrm>
            <a:off x="6625530" y="3638352"/>
            <a:ext cx="383893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02E"/>
                </a:solidFill>
                <a:latin typeface="Inter" pitchFamily="34" charset="0"/>
                <a:ea typeface="Inter" pitchFamily="34" charset="-122"/>
                <a:cs typeface="Inter" pitchFamily="34" charset="-120"/>
              </a:rPr>
              <a:t>Automatic exam-monitoring reports</a:t>
            </a:r>
            <a:endParaRPr lang="en-US" sz="1500" dirty="0"/>
          </a:p>
        </p:txBody>
      </p:sp>
      <p:sp>
        <p:nvSpPr>
          <p:cNvPr id="21" name="Shape 19"/>
          <p:cNvSpPr/>
          <p:nvPr/>
        </p:nvSpPr>
        <p:spPr>
          <a:xfrm>
            <a:off x="812800" y="4261941"/>
            <a:ext cx="5207000" cy="675580"/>
          </a:xfrm>
          <a:prstGeom prst="roundRect">
            <a:avLst>
              <a:gd name="adj" fmla="val 15039"/>
            </a:avLst>
          </a:prstGeom>
          <a:solidFill>
            <a:srgbClr val="FFFFFF"/>
          </a:solidFill>
          <a:ln/>
        </p:spPr>
      </p:sp>
      <p:sp>
        <p:nvSpPr>
          <p:cNvPr id="22" name="Text 20"/>
          <p:cNvSpPr/>
          <p:nvPr/>
        </p:nvSpPr>
        <p:spPr>
          <a:xfrm>
            <a:off x="990600" y="4439741"/>
            <a:ext cx="183753"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7C86"/>
                </a:solidFill>
                <a:latin typeface="Inter" pitchFamily="34" charset="0"/>
                <a:ea typeface="Inter" pitchFamily="34" charset="-122"/>
                <a:cs typeface="Inter" pitchFamily="34" charset="-120"/>
              </a:rPr>
              <a:t>7</a:t>
            </a:r>
            <a:endParaRPr lang="en-US" sz="1800" dirty="0"/>
          </a:p>
        </p:txBody>
      </p:sp>
      <p:sp>
        <p:nvSpPr>
          <p:cNvPr id="23" name="Text 21"/>
          <p:cNvSpPr/>
          <p:nvPr/>
        </p:nvSpPr>
        <p:spPr>
          <a:xfrm>
            <a:off x="1250553" y="4466332"/>
            <a:ext cx="423898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02E"/>
                </a:solidFill>
                <a:latin typeface="Inter" pitchFamily="34" charset="0"/>
                <a:ea typeface="Inter" pitchFamily="34" charset="-122"/>
                <a:cs typeface="Inter" pitchFamily="34" charset="-120"/>
              </a:rPr>
              <a:t>Integration with existing CCTV systems</a:t>
            </a:r>
            <a:endParaRPr lang="en-US" sz="1500" dirty="0"/>
          </a:p>
        </p:txBody>
      </p:sp>
      <p:sp>
        <p:nvSpPr>
          <p:cNvPr id="24" name="Shape 22"/>
          <p:cNvSpPr/>
          <p:nvPr/>
        </p:nvSpPr>
        <p:spPr>
          <a:xfrm>
            <a:off x="6172200" y="4261941"/>
            <a:ext cx="5207000" cy="675580"/>
          </a:xfrm>
          <a:prstGeom prst="roundRect">
            <a:avLst>
              <a:gd name="adj" fmla="val 15039"/>
            </a:avLst>
          </a:prstGeom>
          <a:solidFill>
            <a:srgbClr val="FFFFFF"/>
          </a:solidFill>
          <a:ln/>
        </p:spPr>
      </p:sp>
      <p:sp>
        <p:nvSpPr>
          <p:cNvPr id="25" name="Text 23"/>
          <p:cNvSpPr/>
          <p:nvPr/>
        </p:nvSpPr>
        <p:spPr>
          <a:xfrm>
            <a:off x="6350000" y="4439741"/>
            <a:ext cx="199628"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7C86"/>
                </a:solidFill>
                <a:latin typeface="Inter" pitchFamily="34" charset="0"/>
                <a:ea typeface="Inter" pitchFamily="34" charset="-122"/>
                <a:cs typeface="Inter" pitchFamily="34" charset="-120"/>
              </a:rPr>
              <a:t>8</a:t>
            </a:r>
            <a:endParaRPr lang="en-US" sz="1800" dirty="0"/>
          </a:p>
        </p:txBody>
      </p:sp>
      <p:sp>
        <p:nvSpPr>
          <p:cNvPr id="26" name="Text 24"/>
          <p:cNvSpPr/>
          <p:nvPr/>
        </p:nvSpPr>
        <p:spPr>
          <a:xfrm>
            <a:off x="6625828" y="4466332"/>
            <a:ext cx="463307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02E"/>
                </a:solidFill>
                <a:latin typeface="Inter" pitchFamily="34" charset="0"/>
                <a:ea typeface="Inter" pitchFamily="34" charset="-122"/>
                <a:cs typeface="Inter" pitchFamily="34" charset="-120"/>
              </a:rPr>
              <a:t>Handling larger, crowded examination halls</a:t>
            </a:r>
            <a:endParaRPr lang="en-US" sz="1500" dirty="0"/>
          </a:p>
        </p:txBody>
      </p:sp>
      <p:sp>
        <p:nvSpPr>
          <p:cNvPr id="27" name="Text 25"/>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6"/>
                </a:solidFill>
                <a:latin typeface="Inter" pitchFamily="34" charset="0"/>
                <a:ea typeface="Inter" pitchFamily="34" charset="-122"/>
                <a:cs typeface="Inter" pitchFamily="34" charset="-120"/>
              </a:rPr>
              <a:t>Smart Surveillance System · Major Project Phase-1 · Review-2</a:t>
            </a:r>
            <a:endParaRPr lang="en-US" sz="1200" dirty="0"/>
          </a:p>
        </p:txBody>
      </p:sp>
      <p:sp>
        <p:nvSpPr>
          <p:cNvPr id="28" name="Text 2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776"/>
                </a:solidFill>
                <a:latin typeface="Inter" pitchFamily="34" charset="0"/>
                <a:ea typeface="Inter" pitchFamily="34" charset="-122"/>
                <a:cs typeface="Inter"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B2D"/>
        </a:solidFill>
      </p:bgPr>
    </p:bg>
    <p:spTree>
      <p:nvGrpSpPr>
        <p:cNvPr id="1" name=""/>
        <p:cNvGrpSpPr/>
        <p:nvPr/>
      </p:nvGrpSpPr>
      <p:grpSpPr>
        <a:xfrm>
          <a:off x="0" y="0"/>
          <a:ext cx="0" cy="0"/>
          <a:chOff x="0" y="0"/>
          <a:chExt cx="0" cy="0"/>
        </a:xfrm>
      </p:grpSpPr>
      <p:sp>
        <p:nvSpPr>
          <p:cNvPr id="2" name="Text 0"/>
          <p:cNvSpPr/>
          <p:nvPr>
            <p:ph type="title"/>
          </p:nvPr>
        </p:nvSpPr>
        <p:spPr>
          <a:xfrm>
            <a:off x="812800" y="2501900"/>
            <a:ext cx="10883392" cy="863600"/>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5EEAD4"/>
                </a:solidFill>
                <a:latin typeface="Inter" pitchFamily="34" charset="0"/>
                <a:ea typeface="Inter" pitchFamily="34" charset="-122"/>
                <a:cs typeface="Inter" pitchFamily="34" charset="-120"/>
              </a:rPr>
              <a:t>Thank You</a:t>
            </a:r>
            <a:endParaRPr lang="en-US" sz="6000" dirty="0"/>
          </a:p>
        </p:txBody>
      </p:sp>
      <p:sp>
        <p:nvSpPr>
          <p:cNvPr id="3" name="Text 1"/>
          <p:cNvSpPr/>
          <p:nvPr/>
        </p:nvSpPr>
        <p:spPr>
          <a:xfrm>
            <a:off x="812800" y="3746500"/>
            <a:ext cx="10883392"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9FB0C3"/>
                </a:solidFill>
                <a:latin typeface="Inter" pitchFamily="34" charset="0"/>
                <a:ea typeface="Inter" pitchFamily="34" charset="-122"/>
                <a:cs typeface="Inter" pitchFamily="34" charset="-120"/>
              </a:rPr>
              <a:t>Team JAAI · CSE-AIML 4A · Major Project Phase-1 (Review-2)</a:t>
            </a:r>
            <a:endParaRPr lang="en-US" sz="1600" dirty="0"/>
          </a:p>
          <a:p>
            <a:pPr algn="l" indent="0" marL="0">
              <a:lnSpc>
                <a:spcPts val="2400"/>
              </a:lnSpc>
              <a:buNone/>
            </a:pPr>
            <a:r>
              <a:rPr lang="en-US" sz="1600" dirty="0">
                <a:solidFill>
                  <a:srgbClr val="9FB0C3"/>
                </a:solidFill>
                <a:latin typeface="Inter" pitchFamily="34" charset="0"/>
                <a:ea typeface="Inter" pitchFamily="34" charset="-122"/>
                <a:cs typeface="Inter" pitchFamily="34" charset="-120"/>
              </a:rPr>
              <a:t>Awais · Jameel Ali · Arif · Ibrahim</a:t>
            </a:r>
            <a:endParaRPr lang="en-US" sz="1600" dirty="0"/>
          </a:p>
        </p:txBody>
      </p:sp>
    </p:spTree>
  </p:cSld>
  <p:clrMapOvr>
    <a:masterClrMapping/>
  </p:clrMapOvr>
</p:sld>
</file>

<file path=ppt/theme/theme1.xml><?xml version="1.0" encoding="utf-8"?>
<a:theme xmlns:a="http://schemas.openxmlformats.org/drawingml/2006/main" name="AI-Based Exam Cheating Detection – Major Project Phase-1 Review-2">
  <a:themeElements>
    <a:clrScheme name="AI-Based Exam Cheating Detection – Major Project Phase-1 Review-2">
      <a:dk1>
        <a:srgbClr val="0E7C86"/>
      </a:dk1>
      <a:lt1>
        <a:srgbClr val="F3F5F7"/>
      </a:lt1>
      <a:dk2>
        <a:srgbClr val="479AA2"/>
      </a:dk2>
      <a:lt2>
        <a:srgbClr val="DCE9EC"/>
      </a:lt2>
      <a:accent1>
        <a:srgbClr val="B4531A"/>
      </a:accent1>
      <a:accent2>
        <a:srgbClr val="5EEAD4"/>
      </a:accent2>
      <a:accent3>
        <a:srgbClr val="14202E"/>
      </a:accent3>
      <a:accent4>
        <a:srgbClr val="5B6776"/>
      </a:accent4>
      <a:accent5>
        <a:srgbClr val="9FB0C3"/>
      </a:accent5>
      <a:accent6>
        <a:srgbClr val="0F1B2D"/>
      </a:accent6>
      <a:hlink>
        <a:srgbClr val="0563C1"/>
      </a:hlink>
      <a:folHlink>
        <a:srgbClr val="954F72"/>
      </a:folHlink>
    </a:clrScheme>
    <a:fontScheme name="AI-Based Exam Cheating Detection – Major Project Phase-1 Review-2">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Exam Cheating Detection – Major Project Phase-1 Review-2</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Inter
Copyright 2020 The Inter Project Authors (https://github.com/rsms/inter)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2026-10-27T17:56:49Z</dcterms:created>
  <dcterms:modified xsi:type="dcterms:W3CDTF">2026-10-27T17:56:49Z</dcterms:modified>
</cp:coreProperties>
</file>